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Libre Baskerville Bold" panose="020B0604020202020204" charset="0"/>
      <p:regular r:id="rId15"/>
    </p:embeddedFont>
    <p:embeddedFont>
      <p:font typeface="Source Sans 3 Bold" panose="020B0604020202020204" charset="0"/>
      <p:regular r:id="rId16"/>
    </p:embeddedFont>
    <p:embeddedFont>
      <p:font typeface="Source Sans 3 Semi-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ani Anurag" userId="942cff58c61523e0" providerId="LiveId" clId="{24F57F04-2884-486C-BE79-AAE629E0D2D5}"/>
    <pc:docChg chg="modSld">
      <pc:chgData name="Ishani Anurag" userId="942cff58c61523e0" providerId="LiveId" clId="{24F57F04-2884-486C-BE79-AAE629E0D2D5}" dt="2026-08-06T10:42:17.060" v="66"/>
      <pc:docMkLst>
        <pc:docMk/>
      </pc:docMkLst>
      <pc:sldChg chg="delSp modSp mod">
        <pc:chgData name="Ishani Anurag" userId="942cff58c61523e0" providerId="LiveId" clId="{24F57F04-2884-486C-BE79-AAE629E0D2D5}" dt="2026-08-06T10:40:50.956" v="17"/>
        <pc:sldMkLst>
          <pc:docMk/>
          <pc:sldMk cId="0" sldId="257"/>
        </pc:sldMkLst>
        <pc:spChg chg="del mod">
          <ac:chgData name="Ishani Anurag" userId="942cff58c61523e0" providerId="LiveId" clId="{24F57F04-2884-486C-BE79-AAE629E0D2D5}" dt="2026-08-06T10:40:50.956" v="17"/>
          <ac:spMkLst>
            <pc:docMk/>
            <pc:sldMk cId="0" sldId="257"/>
            <ac:spMk id="15" creationId="{00000000-0000-0000-0000-000000000000}"/>
          </ac:spMkLst>
        </pc:spChg>
      </pc:sldChg>
      <pc:sldChg chg="delSp modSp mod">
        <pc:chgData name="Ishani Anurag" userId="942cff58c61523e0" providerId="LiveId" clId="{24F57F04-2884-486C-BE79-AAE629E0D2D5}" dt="2026-08-06T10:40:55.726" v="20"/>
        <pc:sldMkLst>
          <pc:docMk/>
          <pc:sldMk cId="0" sldId="258"/>
        </pc:sldMkLst>
        <pc:spChg chg="del mod">
          <ac:chgData name="Ishani Anurag" userId="942cff58c61523e0" providerId="LiveId" clId="{24F57F04-2884-486C-BE79-AAE629E0D2D5}" dt="2026-08-06T10:40:55.726" v="20"/>
          <ac:spMkLst>
            <pc:docMk/>
            <pc:sldMk cId="0" sldId="258"/>
            <ac:spMk id="8" creationId="{00000000-0000-0000-0000-000000000000}"/>
          </ac:spMkLst>
        </pc:spChg>
      </pc:sldChg>
      <pc:sldChg chg="delSp modSp mod">
        <pc:chgData name="Ishani Anurag" userId="942cff58c61523e0" providerId="LiveId" clId="{24F57F04-2884-486C-BE79-AAE629E0D2D5}" dt="2026-08-06T10:41:00.297" v="23"/>
        <pc:sldMkLst>
          <pc:docMk/>
          <pc:sldMk cId="0" sldId="259"/>
        </pc:sldMkLst>
        <pc:spChg chg="del mod">
          <ac:chgData name="Ishani Anurag" userId="942cff58c61523e0" providerId="LiveId" clId="{24F57F04-2884-486C-BE79-AAE629E0D2D5}" dt="2026-08-06T10:41:00.297" v="23"/>
          <ac:spMkLst>
            <pc:docMk/>
            <pc:sldMk cId="0" sldId="259"/>
            <ac:spMk id="12" creationId="{00000000-0000-0000-0000-000000000000}"/>
          </ac:spMkLst>
        </pc:spChg>
      </pc:sldChg>
      <pc:sldChg chg="delSp modSp mod">
        <pc:chgData name="Ishani Anurag" userId="942cff58c61523e0" providerId="LiveId" clId="{24F57F04-2884-486C-BE79-AAE629E0D2D5}" dt="2026-08-06T10:41:07.426" v="26"/>
        <pc:sldMkLst>
          <pc:docMk/>
          <pc:sldMk cId="0" sldId="260"/>
        </pc:sldMkLst>
        <pc:spChg chg="del mod">
          <ac:chgData name="Ishani Anurag" userId="942cff58c61523e0" providerId="LiveId" clId="{24F57F04-2884-486C-BE79-AAE629E0D2D5}" dt="2026-08-06T10:41:07.426" v="26"/>
          <ac:spMkLst>
            <pc:docMk/>
            <pc:sldMk cId="0" sldId="260"/>
            <ac:spMk id="12" creationId="{00000000-0000-0000-0000-000000000000}"/>
          </ac:spMkLst>
        </pc:spChg>
      </pc:sldChg>
      <pc:sldChg chg="delSp modSp mod">
        <pc:chgData name="Ishani Anurag" userId="942cff58c61523e0" providerId="LiveId" clId="{24F57F04-2884-486C-BE79-AAE629E0D2D5}" dt="2026-08-06T10:41:19.348" v="30"/>
        <pc:sldMkLst>
          <pc:docMk/>
          <pc:sldMk cId="0" sldId="261"/>
        </pc:sldMkLst>
        <pc:spChg chg="del mod">
          <ac:chgData name="Ishani Anurag" userId="942cff58c61523e0" providerId="LiveId" clId="{24F57F04-2884-486C-BE79-AAE629E0D2D5}" dt="2026-08-06T10:41:19.348" v="30"/>
          <ac:spMkLst>
            <pc:docMk/>
            <pc:sldMk cId="0" sldId="261"/>
            <ac:spMk id="6" creationId="{00000000-0000-0000-0000-000000000000}"/>
          </ac:spMkLst>
        </pc:spChg>
      </pc:sldChg>
      <pc:sldChg chg="delSp modSp mod">
        <pc:chgData name="Ishani Anurag" userId="942cff58c61523e0" providerId="LiveId" clId="{24F57F04-2884-486C-BE79-AAE629E0D2D5}" dt="2026-08-06T10:41:25.312" v="36"/>
        <pc:sldMkLst>
          <pc:docMk/>
          <pc:sldMk cId="0" sldId="262"/>
        </pc:sldMkLst>
        <pc:spChg chg="del mod">
          <ac:chgData name="Ishani Anurag" userId="942cff58c61523e0" providerId="LiveId" clId="{24F57F04-2884-486C-BE79-AAE629E0D2D5}" dt="2026-08-06T10:41:25.312" v="36"/>
          <ac:spMkLst>
            <pc:docMk/>
            <pc:sldMk cId="0" sldId="262"/>
            <ac:spMk id="8" creationId="{00000000-0000-0000-0000-000000000000}"/>
          </ac:spMkLst>
        </pc:spChg>
      </pc:sldChg>
      <pc:sldChg chg="delSp modSp mod">
        <pc:chgData name="Ishani Anurag" userId="942cff58c61523e0" providerId="LiveId" clId="{24F57F04-2884-486C-BE79-AAE629E0D2D5}" dt="2026-08-06T10:41:32.078" v="44"/>
        <pc:sldMkLst>
          <pc:docMk/>
          <pc:sldMk cId="0" sldId="263"/>
        </pc:sldMkLst>
        <pc:spChg chg="del mod">
          <ac:chgData name="Ishani Anurag" userId="942cff58c61523e0" providerId="LiveId" clId="{24F57F04-2884-486C-BE79-AAE629E0D2D5}" dt="2026-08-06T10:41:32.078" v="44"/>
          <ac:spMkLst>
            <pc:docMk/>
            <pc:sldMk cId="0" sldId="263"/>
            <ac:spMk id="11" creationId="{00000000-0000-0000-0000-000000000000}"/>
          </ac:spMkLst>
        </pc:spChg>
      </pc:sldChg>
      <pc:sldChg chg="delSp modSp mod">
        <pc:chgData name="Ishani Anurag" userId="942cff58c61523e0" providerId="LiveId" clId="{24F57F04-2884-486C-BE79-AAE629E0D2D5}" dt="2026-08-06T10:41:38.869" v="48"/>
        <pc:sldMkLst>
          <pc:docMk/>
          <pc:sldMk cId="0" sldId="264"/>
        </pc:sldMkLst>
        <pc:spChg chg="del mod">
          <ac:chgData name="Ishani Anurag" userId="942cff58c61523e0" providerId="LiveId" clId="{24F57F04-2884-486C-BE79-AAE629E0D2D5}" dt="2026-08-06T10:41:38.869" v="48"/>
          <ac:spMkLst>
            <pc:docMk/>
            <pc:sldMk cId="0" sldId="264"/>
            <ac:spMk id="11" creationId="{00000000-0000-0000-0000-000000000000}"/>
          </ac:spMkLst>
        </pc:spChg>
      </pc:sldChg>
      <pc:sldChg chg="delSp modSp mod">
        <pc:chgData name="Ishani Anurag" userId="942cff58c61523e0" providerId="LiveId" clId="{24F57F04-2884-486C-BE79-AAE629E0D2D5}" dt="2026-08-06T10:41:58.195" v="58"/>
        <pc:sldMkLst>
          <pc:docMk/>
          <pc:sldMk cId="0" sldId="265"/>
        </pc:sldMkLst>
        <pc:spChg chg="del mod">
          <ac:chgData name="Ishani Anurag" userId="942cff58c61523e0" providerId="LiveId" clId="{24F57F04-2884-486C-BE79-AAE629E0D2D5}" dt="2026-08-06T10:41:58.195" v="58"/>
          <ac:spMkLst>
            <pc:docMk/>
            <pc:sldMk cId="0" sldId="265"/>
            <ac:spMk id="6" creationId="{00000000-0000-0000-0000-000000000000}"/>
          </ac:spMkLst>
        </pc:spChg>
        <pc:spChg chg="mod">
          <ac:chgData name="Ishani Anurag" userId="942cff58c61523e0" providerId="LiveId" clId="{24F57F04-2884-486C-BE79-AAE629E0D2D5}" dt="2026-08-06T10:41:56.130" v="56" actId="20577"/>
          <ac:spMkLst>
            <pc:docMk/>
            <pc:sldMk cId="0" sldId="265"/>
            <ac:spMk id="9" creationId="{00000000-0000-0000-0000-000000000000}"/>
          </ac:spMkLst>
        </pc:spChg>
      </pc:sldChg>
      <pc:sldChg chg="delSp modSp mod">
        <pc:chgData name="Ishani Anurag" userId="942cff58c61523e0" providerId="LiveId" clId="{24F57F04-2884-486C-BE79-AAE629E0D2D5}" dt="2026-08-06T10:42:04.358" v="62"/>
        <pc:sldMkLst>
          <pc:docMk/>
          <pc:sldMk cId="0" sldId="266"/>
        </pc:sldMkLst>
        <pc:spChg chg="del mod">
          <ac:chgData name="Ishani Anurag" userId="942cff58c61523e0" providerId="LiveId" clId="{24F57F04-2884-486C-BE79-AAE629E0D2D5}" dt="2026-08-06T10:42:04.358" v="62"/>
          <ac:spMkLst>
            <pc:docMk/>
            <pc:sldMk cId="0" sldId="266"/>
            <ac:spMk id="14" creationId="{00000000-0000-0000-0000-000000000000}"/>
          </ac:spMkLst>
        </pc:spChg>
      </pc:sldChg>
      <pc:sldChg chg="delSp modSp mod">
        <pc:chgData name="Ishani Anurag" userId="942cff58c61523e0" providerId="LiveId" clId="{24F57F04-2884-486C-BE79-AAE629E0D2D5}" dt="2026-08-06T10:42:17.060" v="66"/>
        <pc:sldMkLst>
          <pc:docMk/>
          <pc:sldMk cId="0" sldId="267"/>
        </pc:sldMkLst>
        <pc:spChg chg="del mod">
          <ac:chgData name="Ishani Anurag" userId="942cff58c61523e0" providerId="LiveId" clId="{24F57F04-2884-486C-BE79-AAE629E0D2D5}" dt="2026-08-06T10:42:17.060" v="66"/>
          <ac:spMkLst>
            <pc:docMk/>
            <pc:sldMk cId="0" sldId="26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A51DCE-CD38-4E8B-A12A-D0AA70B54FE9}" type="datetimeFigureOut">
              <a:rPr lang="en-IN" smtClean="0"/>
              <a:t>06-08-2026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44E57-1E8B-42D5-9C2C-0988F573D841}" type="slidenum">
              <a:rPr lang="en-IN" smtClean="0"/>
              <a:t>‹#›</a:t>
            </a:fld>
            <a:endParaRPr lang="en-IN"/>
          </a:p>
        </p:txBody>
      </p:sp>
    </p:spTree>
    <p:extLst>
      <p:ext uri="{BB962C8B-B14F-4D97-AF65-F5344CB8AC3E}">
        <p14:creationId xmlns:p14="http://schemas.microsoft.com/office/powerpoint/2010/main" val="2176757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244E57-1E8B-42D5-9C2C-0988F573D841}" type="slidenum">
              <a:rPr lang="en-IN" smtClean="0"/>
              <a:t>1</a:t>
            </a:fld>
            <a:endParaRPr lang="en-IN"/>
          </a:p>
        </p:txBody>
      </p:sp>
    </p:spTree>
    <p:extLst>
      <p:ext uri="{BB962C8B-B14F-4D97-AF65-F5344CB8AC3E}">
        <p14:creationId xmlns:p14="http://schemas.microsoft.com/office/powerpoint/2010/main" val="2995368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046216" y="2843917"/>
            <a:ext cx="6345374" cy="6033264"/>
            <a:chOff x="0" y="0"/>
            <a:chExt cx="1186837" cy="1128460"/>
          </a:xfrm>
        </p:grpSpPr>
        <p:sp>
          <p:nvSpPr>
            <p:cNvPr id="6" name="Freeform 6"/>
            <p:cNvSpPr/>
            <p:nvPr/>
          </p:nvSpPr>
          <p:spPr>
            <a:xfrm>
              <a:off x="0" y="0"/>
              <a:ext cx="1186837" cy="1128460"/>
            </a:xfrm>
            <a:custGeom>
              <a:avLst/>
              <a:gdLst/>
              <a:ahLst/>
              <a:cxnLst/>
              <a:rect l="l" t="t" r="r" b="b"/>
              <a:pathLst>
                <a:path w="1186837" h="1128460">
                  <a:moveTo>
                    <a:pt x="61004" y="0"/>
                  </a:moveTo>
                  <a:lnTo>
                    <a:pt x="1125833" y="0"/>
                  </a:lnTo>
                  <a:cubicBezTo>
                    <a:pt x="1142012" y="0"/>
                    <a:pt x="1157529" y="6427"/>
                    <a:pt x="1168969" y="17868"/>
                  </a:cubicBezTo>
                  <a:cubicBezTo>
                    <a:pt x="1180410" y="29308"/>
                    <a:pt x="1186837" y="44825"/>
                    <a:pt x="1186837" y="61004"/>
                  </a:cubicBezTo>
                  <a:lnTo>
                    <a:pt x="1186837" y="1067456"/>
                  </a:lnTo>
                  <a:cubicBezTo>
                    <a:pt x="1186837" y="1083635"/>
                    <a:pt x="1180410" y="1099152"/>
                    <a:pt x="1168969" y="1110592"/>
                  </a:cubicBezTo>
                  <a:cubicBezTo>
                    <a:pt x="1157529" y="1122033"/>
                    <a:pt x="1142012" y="1128460"/>
                    <a:pt x="1125833" y="1128460"/>
                  </a:cubicBezTo>
                  <a:lnTo>
                    <a:pt x="61004" y="1128460"/>
                  </a:lnTo>
                  <a:cubicBezTo>
                    <a:pt x="44825" y="1128460"/>
                    <a:pt x="29308" y="1122033"/>
                    <a:pt x="17868" y="1110592"/>
                  </a:cubicBezTo>
                  <a:cubicBezTo>
                    <a:pt x="6427" y="1099152"/>
                    <a:pt x="0" y="1083635"/>
                    <a:pt x="0" y="1067456"/>
                  </a:cubicBezTo>
                  <a:lnTo>
                    <a:pt x="0" y="61004"/>
                  </a:lnTo>
                  <a:cubicBezTo>
                    <a:pt x="0" y="44825"/>
                    <a:pt x="6427" y="29308"/>
                    <a:pt x="17868" y="17868"/>
                  </a:cubicBezTo>
                  <a:cubicBezTo>
                    <a:pt x="29308" y="6427"/>
                    <a:pt x="44825" y="0"/>
                    <a:pt x="61004" y="0"/>
                  </a:cubicBezTo>
                  <a:close/>
                </a:path>
              </a:pathLst>
            </a:custGeom>
            <a:blipFill>
              <a:blip r:embed="rId3"/>
              <a:stretch>
                <a:fillRect l="-42" r="-42"/>
              </a:stretch>
            </a:blipFill>
          </p:spPr>
        </p:sp>
      </p:grpSp>
      <p:sp>
        <p:nvSpPr>
          <p:cNvPr id="7" name="TextBox 7"/>
          <p:cNvSpPr txBox="1"/>
          <p:nvPr/>
        </p:nvSpPr>
        <p:spPr>
          <a:xfrm>
            <a:off x="1028700" y="4883445"/>
            <a:ext cx="8115300" cy="794787"/>
          </a:xfrm>
          <a:prstGeom prst="rect">
            <a:avLst/>
          </a:prstGeom>
        </p:spPr>
        <p:txBody>
          <a:bodyPr lIns="0" tIns="0" rIns="0" bIns="0" rtlCol="0" anchor="t">
            <a:spAutoFit/>
          </a:bodyPr>
          <a:lstStyle/>
          <a:p>
            <a:pPr marL="0" lvl="0" indent="0" algn="l">
              <a:lnSpc>
                <a:spcPts val="6592"/>
              </a:lnSpc>
            </a:pPr>
            <a:r>
              <a:rPr lang="en-US" sz="4709" b="1">
                <a:solidFill>
                  <a:srgbClr val="1F2A44"/>
                </a:solidFill>
                <a:latin typeface="Libre Baskerville Bold"/>
                <a:ea typeface="Libre Baskerville Bold"/>
                <a:cs typeface="Libre Baskerville Bold"/>
                <a:sym typeface="Libre Baskerville Bold"/>
              </a:rPr>
              <a:t>Black-Box Detection</a:t>
            </a:r>
          </a:p>
        </p:txBody>
      </p:sp>
      <p:sp>
        <p:nvSpPr>
          <p:cNvPr id="8" name="TextBox 8"/>
          <p:cNvSpPr txBox="1"/>
          <p:nvPr/>
        </p:nvSpPr>
        <p:spPr>
          <a:xfrm>
            <a:off x="1028700" y="5592507"/>
            <a:ext cx="8115300" cy="1623560"/>
          </a:xfrm>
          <a:prstGeom prst="rect">
            <a:avLst/>
          </a:prstGeom>
        </p:spPr>
        <p:txBody>
          <a:bodyPr lIns="0" tIns="0" rIns="0" bIns="0" rtlCol="0" anchor="t">
            <a:spAutoFit/>
          </a:bodyPr>
          <a:lstStyle/>
          <a:p>
            <a:pPr marL="0" lvl="0" indent="0" algn="l">
              <a:lnSpc>
                <a:spcPts val="6587"/>
              </a:lnSpc>
            </a:pPr>
            <a:r>
              <a:rPr lang="en-US" sz="4705" b="1">
                <a:solidFill>
                  <a:srgbClr val="1F2A44"/>
                </a:solidFill>
                <a:latin typeface="Libre Baskerville Bold"/>
                <a:ea typeface="Libre Baskerville Bold"/>
                <a:cs typeface="Libre Baskerville Bold"/>
                <a:sym typeface="Libre Baskerville Bold"/>
              </a:rPr>
              <a:t>of Prompt Injection &amp; Jailbreak Attacks in LLMs</a:t>
            </a:r>
          </a:p>
        </p:txBody>
      </p:sp>
      <p:sp>
        <p:nvSpPr>
          <p:cNvPr id="9" name="TextBox 9"/>
          <p:cNvSpPr txBox="1"/>
          <p:nvPr/>
        </p:nvSpPr>
        <p:spPr>
          <a:xfrm>
            <a:off x="1355014" y="1172969"/>
            <a:ext cx="2823587" cy="305256"/>
          </a:xfrm>
          <a:prstGeom prst="rect">
            <a:avLst/>
          </a:prstGeom>
        </p:spPr>
        <p:txBody>
          <a:bodyPr lIns="0" tIns="0" rIns="0" bIns="0" rtlCol="0" anchor="t">
            <a:spAutoFit/>
          </a:bodyPr>
          <a:lstStyle/>
          <a:p>
            <a:pPr marL="0" lvl="0" indent="0" algn="l">
              <a:lnSpc>
                <a:spcPts val="2599"/>
              </a:lnSpc>
              <a:spcBef>
                <a:spcPct val="0"/>
              </a:spcBef>
            </a:pPr>
            <a:r>
              <a:rPr lang="en-US" sz="1857" b="1" spc="-37">
                <a:solidFill>
                  <a:srgbClr val="4A5D73"/>
                </a:solidFill>
                <a:latin typeface="Source Sans 3 Semi-Bold"/>
                <a:ea typeface="Source Sans 3 Semi-Bold"/>
                <a:cs typeface="Source Sans 3 Semi-Bold"/>
                <a:sym typeface="Source Sans 3 Semi-Bold"/>
              </a:rPr>
              <a:t>Artificial Intelligence-B1  Slot</a:t>
            </a:r>
          </a:p>
        </p:txBody>
      </p:sp>
      <p:sp>
        <p:nvSpPr>
          <p:cNvPr id="10" name="TextBox 10"/>
          <p:cNvSpPr txBox="1"/>
          <p:nvPr/>
        </p:nvSpPr>
        <p:spPr>
          <a:xfrm>
            <a:off x="12855889" y="1172969"/>
            <a:ext cx="3930366" cy="305256"/>
          </a:xfrm>
          <a:prstGeom prst="rect">
            <a:avLst/>
          </a:prstGeom>
        </p:spPr>
        <p:txBody>
          <a:bodyPr lIns="0" tIns="0" rIns="0" bIns="0" rtlCol="0" anchor="t">
            <a:spAutoFit/>
          </a:bodyPr>
          <a:lstStyle/>
          <a:p>
            <a:pPr marL="0" lvl="0" indent="0" algn="r">
              <a:lnSpc>
                <a:spcPts val="2599"/>
              </a:lnSpc>
              <a:spcBef>
                <a:spcPct val="0"/>
              </a:spcBef>
            </a:pPr>
            <a:r>
              <a:rPr lang="en-US" sz="1857" b="1" spc="-37">
                <a:solidFill>
                  <a:srgbClr val="4A5D73"/>
                </a:solidFill>
                <a:latin typeface="Source Sans 3 Semi-Bold"/>
                <a:ea typeface="Source Sans 3 Semi-Bold"/>
                <a:cs typeface="Source Sans 3 Semi-Bold"/>
                <a:sym typeface="Source Sans 3 Semi-Bold"/>
              </a:rPr>
              <a:t>Presented by Ishani Anurag-24BRS1317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6043904"/>
            <a:ext cx="5203212" cy="3214396"/>
            <a:chOff x="0" y="0"/>
            <a:chExt cx="1370393" cy="846590"/>
          </a:xfrm>
        </p:grpSpPr>
        <p:sp>
          <p:nvSpPr>
            <p:cNvPr id="6" name="Freeform 6"/>
            <p:cNvSpPr/>
            <p:nvPr/>
          </p:nvSpPr>
          <p:spPr>
            <a:xfrm>
              <a:off x="0" y="0"/>
              <a:ext cx="1370393" cy="846590"/>
            </a:xfrm>
            <a:custGeom>
              <a:avLst/>
              <a:gdLst/>
              <a:ahLst/>
              <a:cxnLst/>
              <a:rect l="l" t="t" r="r" b="b"/>
              <a:pathLst>
                <a:path w="1370393" h="846590">
                  <a:moveTo>
                    <a:pt x="75883" y="0"/>
                  </a:moveTo>
                  <a:lnTo>
                    <a:pt x="1294510" y="0"/>
                  </a:lnTo>
                  <a:cubicBezTo>
                    <a:pt x="1314635" y="0"/>
                    <a:pt x="1333937" y="7995"/>
                    <a:pt x="1348168" y="22226"/>
                  </a:cubicBezTo>
                  <a:cubicBezTo>
                    <a:pt x="1362399" y="36457"/>
                    <a:pt x="1370393" y="55758"/>
                    <a:pt x="1370393" y="75883"/>
                  </a:cubicBezTo>
                  <a:lnTo>
                    <a:pt x="1370393" y="770706"/>
                  </a:lnTo>
                  <a:cubicBezTo>
                    <a:pt x="1370393" y="790832"/>
                    <a:pt x="1362399" y="810133"/>
                    <a:pt x="1348168" y="824364"/>
                  </a:cubicBezTo>
                  <a:cubicBezTo>
                    <a:pt x="1333937" y="838595"/>
                    <a:pt x="1314635" y="846590"/>
                    <a:pt x="1294510" y="846590"/>
                  </a:cubicBezTo>
                  <a:lnTo>
                    <a:pt x="75883" y="846590"/>
                  </a:lnTo>
                  <a:cubicBezTo>
                    <a:pt x="55758" y="846590"/>
                    <a:pt x="36457" y="838595"/>
                    <a:pt x="22226" y="824364"/>
                  </a:cubicBezTo>
                  <a:cubicBezTo>
                    <a:pt x="7995" y="810133"/>
                    <a:pt x="0" y="790832"/>
                    <a:pt x="0" y="770706"/>
                  </a:cubicBezTo>
                  <a:lnTo>
                    <a:pt x="0" y="75883"/>
                  </a:lnTo>
                  <a:cubicBezTo>
                    <a:pt x="0" y="55758"/>
                    <a:pt x="7995" y="36457"/>
                    <a:pt x="22226" y="22226"/>
                  </a:cubicBezTo>
                  <a:cubicBezTo>
                    <a:pt x="36457" y="7995"/>
                    <a:pt x="55758" y="0"/>
                    <a:pt x="75883" y="0"/>
                  </a:cubicBezTo>
                  <a:close/>
                </a:path>
              </a:pathLst>
            </a:custGeom>
            <a:ln w="38100" cap="rnd">
              <a:solidFill>
                <a:srgbClr val="E5E7EB"/>
              </a:solidFill>
              <a:prstDash val="solid"/>
              <a:round/>
            </a:ln>
          </p:spPr>
        </p:sp>
        <p:sp>
          <p:nvSpPr>
            <p:cNvPr id="7" name="TextBox 7"/>
            <p:cNvSpPr txBox="1"/>
            <p:nvPr/>
          </p:nvSpPr>
          <p:spPr>
            <a:xfrm>
              <a:off x="0" y="-38100"/>
              <a:ext cx="1370393" cy="88469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6542394" y="6043904"/>
            <a:ext cx="5203212" cy="3214396"/>
            <a:chOff x="0" y="0"/>
            <a:chExt cx="1370393" cy="846590"/>
          </a:xfrm>
        </p:grpSpPr>
        <p:sp>
          <p:nvSpPr>
            <p:cNvPr id="9" name="Freeform 9"/>
            <p:cNvSpPr/>
            <p:nvPr/>
          </p:nvSpPr>
          <p:spPr>
            <a:xfrm>
              <a:off x="0" y="0"/>
              <a:ext cx="1370393" cy="846590"/>
            </a:xfrm>
            <a:custGeom>
              <a:avLst/>
              <a:gdLst/>
              <a:ahLst/>
              <a:cxnLst/>
              <a:rect l="l" t="t" r="r" b="b"/>
              <a:pathLst>
                <a:path w="1370393" h="846590">
                  <a:moveTo>
                    <a:pt x="75883" y="0"/>
                  </a:moveTo>
                  <a:lnTo>
                    <a:pt x="1294510" y="0"/>
                  </a:lnTo>
                  <a:cubicBezTo>
                    <a:pt x="1314635" y="0"/>
                    <a:pt x="1333937" y="7995"/>
                    <a:pt x="1348168" y="22226"/>
                  </a:cubicBezTo>
                  <a:cubicBezTo>
                    <a:pt x="1362399" y="36457"/>
                    <a:pt x="1370393" y="55758"/>
                    <a:pt x="1370393" y="75883"/>
                  </a:cubicBezTo>
                  <a:lnTo>
                    <a:pt x="1370393" y="770706"/>
                  </a:lnTo>
                  <a:cubicBezTo>
                    <a:pt x="1370393" y="790832"/>
                    <a:pt x="1362399" y="810133"/>
                    <a:pt x="1348168" y="824364"/>
                  </a:cubicBezTo>
                  <a:cubicBezTo>
                    <a:pt x="1333937" y="838595"/>
                    <a:pt x="1314635" y="846590"/>
                    <a:pt x="1294510" y="846590"/>
                  </a:cubicBezTo>
                  <a:lnTo>
                    <a:pt x="75883" y="846590"/>
                  </a:lnTo>
                  <a:cubicBezTo>
                    <a:pt x="55758" y="846590"/>
                    <a:pt x="36457" y="838595"/>
                    <a:pt x="22226" y="824364"/>
                  </a:cubicBezTo>
                  <a:cubicBezTo>
                    <a:pt x="7995" y="810133"/>
                    <a:pt x="0" y="790832"/>
                    <a:pt x="0" y="770706"/>
                  </a:cubicBezTo>
                  <a:lnTo>
                    <a:pt x="0" y="75883"/>
                  </a:lnTo>
                  <a:cubicBezTo>
                    <a:pt x="0" y="55758"/>
                    <a:pt x="7995" y="36457"/>
                    <a:pt x="22226" y="22226"/>
                  </a:cubicBezTo>
                  <a:cubicBezTo>
                    <a:pt x="36457" y="7995"/>
                    <a:pt x="55758" y="0"/>
                    <a:pt x="75883" y="0"/>
                  </a:cubicBezTo>
                  <a:close/>
                </a:path>
              </a:pathLst>
            </a:custGeom>
            <a:ln w="38100" cap="rnd">
              <a:solidFill>
                <a:srgbClr val="E5E7EB"/>
              </a:solidFill>
              <a:prstDash val="solid"/>
              <a:round/>
            </a:ln>
          </p:spPr>
        </p:sp>
        <p:sp>
          <p:nvSpPr>
            <p:cNvPr id="10" name="TextBox 10"/>
            <p:cNvSpPr txBox="1"/>
            <p:nvPr/>
          </p:nvSpPr>
          <p:spPr>
            <a:xfrm>
              <a:off x="0" y="-38100"/>
              <a:ext cx="1370393" cy="88469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12059931" y="6043904"/>
            <a:ext cx="5203212" cy="3214396"/>
            <a:chOff x="0" y="0"/>
            <a:chExt cx="1370393" cy="846590"/>
          </a:xfrm>
        </p:grpSpPr>
        <p:sp>
          <p:nvSpPr>
            <p:cNvPr id="12" name="Freeform 12"/>
            <p:cNvSpPr/>
            <p:nvPr/>
          </p:nvSpPr>
          <p:spPr>
            <a:xfrm>
              <a:off x="0" y="0"/>
              <a:ext cx="1370393" cy="846590"/>
            </a:xfrm>
            <a:custGeom>
              <a:avLst/>
              <a:gdLst/>
              <a:ahLst/>
              <a:cxnLst/>
              <a:rect l="l" t="t" r="r" b="b"/>
              <a:pathLst>
                <a:path w="1370393" h="846590">
                  <a:moveTo>
                    <a:pt x="75883" y="0"/>
                  </a:moveTo>
                  <a:lnTo>
                    <a:pt x="1294510" y="0"/>
                  </a:lnTo>
                  <a:cubicBezTo>
                    <a:pt x="1314635" y="0"/>
                    <a:pt x="1333937" y="7995"/>
                    <a:pt x="1348168" y="22226"/>
                  </a:cubicBezTo>
                  <a:cubicBezTo>
                    <a:pt x="1362399" y="36457"/>
                    <a:pt x="1370393" y="55758"/>
                    <a:pt x="1370393" y="75883"/>
                  </a:cubicBezTo>
                  <a:lnTo>
                    <a:pt x="1370393" y="770706"/>
                  </a:lnTo>
                  <a:cubicBezTo>
                    <a:pt x="1370393" y="790832"/>
                    <a:pt x="1362399" y="810133"/>
                    <a:pt x="1348168" y="824364"/>
                  </a:cubicBezTo>
                  <a:cubicBezTo>
                    <a:pt x="1333937" y="838595"/>
                    <a:pt x="1314635" y="846590"/>
                    <a:pt x="1294510" y="846590"/>
                  </a:cubicBezTo>
                  <a:lnTo>
                    <a:pt x="75883" y="846590"/>
                  </a:lnTo>
                  <a:cubicBezTo>
                    <a:pt x="55758" y="846590"/>
                    <a:pt x="36457" y="838595"/>
                    <a:pt x="22226" y="824364"/>
                  </a:cubicBezTo>
                  <a:cubicBezTo>
                    <a:pt x="7995" y="810133"/>
                    <a:pt x="0" y="790832"/>
                    <a:pt x="0" y="770706"/>
                  </a:cubicBezTo>
                  <a:lnTo>
                    <a:pt x="0" y="75883"/>
                  </a:lnTo>
                  <a:cubicBezTo>
                    <a:pt x="0" y="55758"/>
                    <a:pt x="7995" y="36457"/>
                    <a:pt x="22226" y="22226"/>
                  </a:cubicBezTo>
                  <a:cubicBezTo>
                    <a:pt x="36457" y="7995"/>
                    <a:pt x="55758" y="0"/>
                    <a:pt x="75883" y="0"/>
                  </a:cubicBezTo>
                  <a:close/>
                </a:path>
              </a:pathLst>
            </a:custGeom>
            <a:ln w="38100" cap="rnd">
              <a:solidFill>
                <a:srgbClr val="E5E7EB"/>
              </a:solidFill>
              <a:prstDash val="solid"/>
              <a:round/>
            </a:ln>
          </p:spPr>
        </p:sp>
        <p:sp>
          <p:nvSpPr>
            <p:cNvPr id="13" name="TextBox 13"/>
            <p:cNvSpPr txBox="1"/>
            <p:nvPr/>
          </p:nvSpPr>
          <p:spPr>
            <a:xfrm>
              <a:off x="0" y="-38100"/>
              <a:ext cx="1370393" cy="88469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1355014" y="1172969"/>
            <a:ext cx="2823587" cy="273139"/>
          </a:xfrm>
          <a:prstGeom prst="rect">
            <a:avLst/>
          </a:prstGeom>
        </p:spPr>
        <p:txBody>
          <a:bodyPr lIns="0" tIns="0" rIns="0" bIns="0" rtlCol="0" anchor="t">
            <a:spAutoFit/>
          </a:bodyPr>
          <a:lstStyle/>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Black-Box Detection</a:t>
            </a:r>
          </a:p>
        </p:txBody>
      </p:sp>
      <p:sp>
        <p:nvSpPr>
          <p:cNvPr id="16" name="TextBox 16"/>
          <p:cNvSpPr txBox="1"/>
          <p:nvPr/>
        </p:nvSpPr>
        <p:spPr>
          <a:xfrm>
            <a:off x="1776411" y="2346325"/>
            <a:ext cx="14735178" cy="1415951"/>
          </a:xfrm>
          <a:prstGeom prst="rect">
            <a:avLst/>
          </a:prstGeom>
        </p:spPr>
        <p:txBody>
          <a:bodyPr lIns="0" tIns="0" rIns="0" bIns="0" rtlCol="0" anchor="t">
            <a:spAutoFit/>
          </a:bodyPr>
          <a:lstStyle/>
          <a:p>
            <a:pPr marL="0" lvl="0" indent="0" algn="ctr">
              <a:lnSpc>
                <a:spcPts val="10892"/>
              </a:lnSpc>
            </a:pPr>
            <a:r>
              <a:rPr lang="en-US" sz="9992" b="1">
                <a:solidFill>
                  <a:srgbClr val="1F2A44"/>
                </a:solidFill>
                <a:latin typeface="Libre Baskerville Bold"/>
                <a:ea typeface="Libre Baskerville Bold"/>
                <a:cs typeface="Libre Baskerville Bold"/>
                <a:sym typeface="Libre Baskerville Bold"/>
              </a:rPr>
              <a:t>Agenda</a:t>
            </a:r>
          </a:p>
        </p:txBody>
      </p:sp>
      <p:sp>
        <p:nvSpPr>
          <p:cNvPr id="17" name="TextBox 17"/>
          <p:cNvSpPr txBox="1"/>
          <p:nvPr/>
        </p:nvSpPr>
        <p:spPr>
          <a:xfrm>
            <a:off x="5825225" y="4918042"/>
            <a:ext cx="6637550" cy="3236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Bold"/>
                <a:ea typeface="Source Sans 3 Bold"/>
                <a:cs typeface="Source Sans 3 Bold"/>
                <a:sym typeface="Source Sans 3 Bold"/>
              </a:rPr>
              <a:t>This presentation is organized around the following three themes:</a:t>
            </a:r>
          </a:p>
        </p:txBody>
      </p:sp>
      <p:sp>
        <p:nvSpPr>
          <p:cNvPr id="18" name="TextBox 18"/>
          <p:cNvSpPr txBox="1"/>
          <p:nvPr/>
        </p:nvSpPr>
        <p:spPr>
          <a:xfrm>
            <a:off x="1299047" y="6424224"/>
            <a:ext cx="1023772" cy="528867"/>
          </a:xfrm>
          <a:prstGeom prst="rect">
            <a:avLst/>
          </a:prstGeom>
        </p:spPr>
        <p:txBody>
          <a:bodyPr lIns="0" tIns="0" rIns="0" bIns="0" rtlCol="0" anchor="t">
            <a:spAutoFit/>
          </a:bodyPr>
          <a:lstStyle/>
          <a:p>
            <a:pPr marL="0" lvl="0" indent="0" algn="ctr">
              <a:lnSpc>
                <a:spcPts val="4105"/>
              </a:lnSpc>
            </a:pPr>
            <a:r>
              <a:rPr lang="en-US" sz="3766" b="1">
                <a:solidFill>
                  <a:srgbClr val="1F2A44"/>
                </a:solidFill>
                <a:latin typeface="Libre Baskerville Bold"/>
                <a:ea typeface="Libre Baskerville Bold"/>
                <a:cs typeface="Libre Baskerville Bold"/>
                <a:sym typeface="Libre Baskerville Bold"/>
              </a:rPr>
              <a:t>01</a:t>
            </a:r>
          </a:p>
        </p:txBody>
      </p:sp>
      <p:sp>
        <p:nvSpPr>
          <p:cNvPr id="19" name="TextBox 19"/>
          <p:cNvSpPr txBox="1"/>
          <p:nvPr/>
        </p:nvSpPr>
        <p:spPr>
          <a:xfrm>
            <a:off x="6821525" y="6424224"/>
            <a:ext cx="1023772" cy="528867"/>
          </a:xfrm>
          <a:prstGeom prst="rect">
            <a:avLst/>
          </a:prstGeom>
        </p:spPr>
        <p:txBody>
          <a:bodyPr lIns="0" tIns="0" rIns="0" bIns="0" rtlCol="0" anchor="t">
            <a:spAutoFit/>
          </a:bodyPr>
          <a:lstStyle/>
          <a:p>
            <a:pPr marL="0" lvl="0" indent="0" algn="ctr">
              <a:lnSpc>
                <a:spcPts val="4105"/>
              </a:lnSpc>
            </a:pPr>
            <a:r>
              <a:rPr lang="en-US" sz="3766" b="1">
                <a:solidFill>
                  <a:srgbClr val="1F2A44"/>
                </a:solidFill>
                <a:latin typeface="Libre Baskerville Bold"/>
                <a:ea typeface="Libre Baskerville Bold"/>
                <a:cs typeface="Libre Baskerville Bold"/>
                <a:sym typeface="Libre Baskerville Bold"/>
              </a:rPr>
              <a:t>02</a:t>
            </a:r>
          </a:p>
        </p:txBody>
      </p:sp>
      <p:sp>
        <p:nvSpPr>
          <p:cNvPr id="20" name="TextBox 20"/>
          <p:cNvSpPr txBox="1"/>
          <p:nvPr/>
        </p:nvSpPr>
        <p:spPr>
          <a:xfrm>
            <a:off x="12344003" y="6424224"/>
            <a:ext cx="1023772" cy="528867"/>
          </a:xfrm>
          <a:prstGeom prst="rect">
            <a:avLst/>
          </a:prstGeom>
        </p:spPr>
        <p:txBody>
          <a:bodyPr lIns="0" tIns="0" rIns="0" bIns="0" rtlCol="0" anchor="t">
            <a:spAutoFit/>
          </a:bodyPr>
          <a:lstStyle/>
          <a:p>
            <a:pPr marL="0" lvl="0" indent="0" algn="ctr">
              <a:lnSpc>
                <a:spcPts val="4105"/>
              </a:lnSpc>
            </a:pPr>
            <a:r>
              <a:rPr lang="en-US" sz="3766" b="1">
                <a:solidFill>
                  <a:srgbClr val="1F2A44"/>
                </a:solidFill>
                <a:latin typeface="Libre Baskerville Bold"/>
                <a:ea typeface="Libre Baskerville Bold"/>
                <a:cs typeface="Libre Baskerville Bold"/>
                <a:sym typeface="Libre Baskerville Bold"/>
              </a:rPr>
              <a:t>03</a:t>
            </a:r>
          </a:p>
        </p:txBody>
      </p:sp>
      <p:sp>
        <p:nvSpPr>
          <p:cNvPr id="21" name="TextBox 21"/>
          <p:cNvSpPr txBox="1"/>
          <p:nvPr/>
        </p:nvSpPr>
        <p:spPr>
          <a:xfrm>
            <a:off x="1355014" y="7829842"/>
            <a:ext cx="4261083" cy="844639"/>
          </a:xfrm>
          <a:prstGeom prst="rect">
            <a:avLst/>
          </a:prstGeom>
        </p:spPr>
        <p:txBody>
          <a:bodyPr lIns="0" tIns="0" rIns="0" bIns="0" rtlCol="0" anchor="t">
            <a:spAutoFit/>
          </a:bodyPr>
          <a:lstStyle/>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Background &amp; Motivation</a:t>
            </a:r>
          </a:p>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Domain context, threat landscape, literature survey, and research gaps</a:t>
            </a:r>
          </a:p>
        </p:txBody>
      </p:sp>
      <p:sp>
        <p:nvSpPr>
          <p:cNvPr id="22" name="TextBox 22"/>
          <p:cNvSpPr txBox="1"/>
          <p:nvPr/>
        </p:nvSpPr>
        <p:spPr>
          <a:xfrm>
            <a:off x="6861059" y="7829842"/>
            <a:ext cx="4261083" cy="844639"/>
          </a:xfrm>
          <a:prstGeom prst="rect">
            <a:avLst/>
          </a:prstGeom>
        </p:spPr>
        <p:txBody>
          <a:bodyPr lIns="0" tIns="0" rIns="0" bIns="0" rtlCol="0" anchor="t">
            <a:spAutoFit/>
          </a:bodyPr>
          <a:lstStyle/>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Methodology &amp; Architecture</a:t>
            </a:r>
          </a:p>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Problem statement, proposed architecture, and black-box detection method</a:t>
            </a:r>
          </a:p>
        </p:txBody>
      </p:sp>
      <p:sp>
        <p:nvSpPr>
          <p:cNvPr id="23" name="TextBox 23"/>
          <p:cNvSpPr txBox="1"/>
          <p:nvPr/>
        </p:nvSpPr>
        <p:spPr>
          <a:xfrm>
            <a:off x="12462775" y="7829842"/>
            <a:ext cx="4514467" cy="844639"/>
          </a:xfrm>
          <a:prstGeom prst="rect">
            <a:avLst/>
          </a:prstGeom>
        </p:spPr>
        <p:txBody>
          <a:bodyPr lIns="0" tIns="0" rIns="0" bIns="0" rtlCol="0" anchor="t">
            <a:spAutoFit/>
          </a:bodyPr>
          <a:lstStyle/>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Results &amp; Outcomes</a:t>
            </a:r>
          </a:p>
          <a:p>
            <a:pPr marL="0" lvl="0" indent="0" algn="l">
              <a:lnSpc>
                <a:spcPts val="2270"/>
              </a:lnSpc>
              <a:spcBef>
                <a:spcPct val="0"/>
              </a:spcBef>
            </a:pPr>
            <a:r>
              <a:rPr lang="en-US" sz="1621" b="1" spc="-32">
                <a:solidFill>
                  <a:srgbClr val="4A5D73"/>
                </a:solidFill>
                <a:latin typeface="Source Sans 3 Semi-Bold"/>
                <a:ea typeface="Source Sans 3 Semi-Bold"/>
                <a:cs typeface="Source Sans 3 Semi-Bold"/>
                <a:sym typeface="Source Sans 3 Semi-Bold"/>
              </a:rPr>
              <a:t>Experimental setup, feasibility analysis, and expected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1467698" y="2241550"/>
            <a:ext cx="5791602" cy="7016750"/>
            <a:chOff x="0" y="0"/>
            <a:chExt cx="897271" cy="1087078"/>
          </a:xfrm>
        </p:grpSpPr>
        <p:sp>
          <p:nvSpPr>
            <p:cNvPr id="6" name="Freeform 6"/>
            <p:cNvSpPr/>
            <p:nvPr/>
          </p:nvSpPr>
          <p:spPr>
            <a:xfrm>
              <a:off x="0" y="0"/>
              <a:ext cx="897271" cy="1087078"/>
            </a:xfrm>
            <a:custGeom>
              <a:avLst/>
              <a:gdLst/>
              <a:ahLst/>
              <a:cxnLst/>
              <a:rect l="l" t="t" r="r" b="b"/>
              <a:pathLst>
                <a:path w="897271" h="1087078">
                  <a:moveTo>
                    <a:pt x="66837" y="0"/>
                  </a:moveTo>
                  <a:lnTo>
                    <a:pt x="830433" y="0"/>
                  </a:lnTo>
                  <a:cubicBezTo>
                    <a:pt x="848160" y="0"/>
                    <a:pt x="865160" y="7042"/>
                    <a:pt x="877694" y="19576"/>
                  </a:cubicBezTo>
                  <a:cubicBezTo>
                    <a:pt x="890229" y="32111"/>
                    <a:pt x="897271" y="49111"/>
                    <a:pt x="897271" y="66837"/>
                  </a:cubicBezTo>
                  <a:lnTo>
                    <a:pt x="897271" y="1020241"/>
                  </a:lnTo>
                  <a:cubicBezTo>
                    <a:pt x="897271" y="1037967"/>
                    <a:pt x="890229" y="1054967"/>
                    <a:pt x="877694" y="1067502"/>
                  </a:cubicBezTo>
                  <a:cubicBezTo>
                    <a:pt x="865160" y="1080036"/>
                    <a:pt x="848160" y="1087078"/>
                    <a:pt x="830433" y="1087078"/>
                  </a:cubicBezTo>
                  <a:lnTo>
                    <a:pt x="66837" y="1087078"/>
                  </a:lnTo>
                  <a:cubicBezTo>
                    <a:pt x="29924" y="1087078"/>
                    <a:pt x="0" y="1057154"/>
                    <a:pt x="0" y="1020241"/>
                  </a:cubicBezTo>
                  <a:lnTo>
                    <a:pt x="0" y="66837"/>
                  </a:lnTo>
                  <a:cubicBezTo>
                    <a:pt x="0" y="29924"/>
                    <a:pt x="29924" y="0"/>
                    <a:pt x="66837" y="0"/>
                  </a:cubicBezTo>
                  <a:close/>
                </a:path>
              </a:pathLst>
            </a:custGeom>
            <a:blipFill>
              <a:blip r:embed="rId2"/>
              <a:stretch>
                <a:fillRect t="-24" b="-24"/>
              </a:stretch>
            </a:blipFill>
          </p:spPr>
        </p:sp>
      </p:grpSp>
      <p:sp>
        <p:nvSpPr>
          <p:cNvPr id="7" name="TextBox 7"/>
          <p:cNvSpPr txBox="1"/>
          <p:nvPr/>
        </p:nvSpPr>
        <p:spPr>
          <a:xfrm>
            <a:off x="1355014" y="1163444"/>
            <a:ext cx="2823587" cy="355426"/>
          </a:xfrm>
          <a:prstGeom prst="rect">
            <a:avLst/>
          </a:prstGeom>
        </p:spPr>
        <p:txBody>
          <a:bodyPr lIns="0" tIns="0" rIns="0" bIns="0" rtlCol="0" anchor="t">
            <a:spAutoFit/>
          </a:bodyPr>
          <a:lstStyle/>
          <a:p>
            <a:pPr marL="0" lvl="0" indent="0" algn="l">
              <a:lnSpc>
                <a:spcPts val="2984"/>
              </a:lnSpc>
              <a:spcBef>
                <a:spcPct val="0"/>
              </a:spcBef>
            </a:pPr>
            <a:r>
              <a:rPr lang="en-US" sz="2131" b="1" spc="-42">
                <a:solidFill>
                  <a:srgbClr val="4A5D73"/>
                </a:solidFill>
                <a:latin typeface="Source Sans 3 Semi-Bold"/>
                <a:ea typeface="Source Sans 3 Semi-Bold"/>
                <a:cs typeface="Source Sans 3 Semi-Bold"/>
                <a:sym typeface="Source Sans 3 Semi-Bold"/>
              </a:rPr>
              <a:t>Black-Box LLM Security</a:t>
            </a:r>
          </a:p>
        </p:txBody>
      </p:sp>
      <p:sp>
        <p:nvSpPr>
          <p:cNvPr id="9" name="TextBox 9"/>
          <p:cNvSpPr txBox="1"/>
          <p:nvPr/>
        </p:nvSpPr>
        <p:spPr>
          <a:xfrm>
            <a:off x="1028700" y="2346325"/>
            <a:ext cx="8870730" cy="2797076"/>
          </a:xfrm>
          <a:prstGeom prst="rect">
            <a:avLst/>
          </a:prstGeom>
        </p:spPr>
        <p:txBody>
          <a:bodyPr lIns="0" tIns="0" rIns="0" bIns="0" rtlCol="0" anchor="t">
            <a:spAutoFit/>
          </a:bodyPr>
          <a:lstStyle/>
          <a:p>
            <a:pPr marL="0" lvl="0" indent="0" algn="l">
              <a:lnSpc>
                <a:spcPts val="10892"/>
              </a:lnSpc>
            </a:pPr>
            <a:r>
              <a:rPr lang="en-US" sz="9992" b="1">
                <a:solidFill>
                  <a:srgbClr val="1F2A44"/>
                </a:solidFill>
                <a:latin typeface="Libre Baskerville Bold"/>
                <a:ea typeface="Libre Baskerville Bold"/>
                <a:cs typeface="Libre Baskerville Bold"/>
                <a:sym typeface="Libre Baskerville Bold"/>
              </a:rPr>
              <a:t>Domain &amp; Motivation</a:t>
            </a:r>
          </a:p>
        </p:txBody>
      </p:sp>
      <p:sp>
        <p:nvSpPr>
          <p:cNvPr id="10" name="TextBox 10"/>
          <p:cNvSpPr txBox="1"/>
          <p:nvPr/>
        </p:nvSpPr>
        <p:spPr>
          <a:xfrm>
            <a:off x="1028700" y="6654403"/>
            <a:ext cx="8115300" cy="2584276"/>
          </a:xfrm>
          <a:prstGeom prst="rect">
            <a:avLst/>
          </a:prstGeom>
        </p:spPr>
        <p:txBody>
          <a:bodyPr lIns="0" tIns="0" rIns="0" bIns="0" rtlCol="0" anchor="t">
            <a:spAutoFit/>
          </a:bodyPr>
          <a:lstStyle/>
          <a:p>
            <a:pPr marL="0" lvl="0" indent="0" algn="l">
              <a:lnSpc>
                <a:spcPts val="2984"/>
              </a:lnSpc>
              <a:spcBef>
                <a:spcPct val="0"/>
              </a:spcBef>
            </a:pPr>
            <a:r>
              <a:rPr lang="en-US" sz="2131" b="1" spc="-42">
                <a:solidFill>
                  <a:srgbClr val="4A5D73"/>
                </a:solidFill>
                <a:latin typeface="Source Sans 3 Semi-Bold"/>
                <a:ea typeface="Source Sans 3 Semi-Bold"/>
                <a:cs typeface="Source Sans 3 Semi-Bold"/>
                <a:sym typeface="Source Sans 3 Semi-Bold"/>
              </a:rPr>
              <a:t>Large Language Models (LLMs) are rapidly being integrated into production applications, expanding the attack surface for adversarial inputs. Prompt injection and jailbreak attacks exploit model behavior to bypass safety guardrails, leak sensitive data, or manipulate outputs. As adoption scales across industries, the absence of robust, black-box detection mechanisms poses critical security risks that demand immediate research attention.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028700" y="2700338"/>
            <a:ext cx="9989977" cy="2386808"/>
          </a:xfrm>
          <a:prstGeom prst="rect">
            <a:avLst/>
          </a:prstGeom>
        </p:spPr>
        <p:txBody>
          <a:bodyPr lIns="0" tIns="0" rIns="0" bIns="0" rtlCol="0" anchor="t">
            <a:spAutoFit/>
          </a:bodyPr>
          <a:lstStyle/>
          <a:p>
            <a:pPr marL="0" lvl="0" indent="0" algn="l">
              <a:lnSpc>
                <a:spcPts val="9351"/>
              </a:lnSpc>
            </a:pPr>
            <a:r>
              <a:rPr lang="en-US" sz="8579" b="1">
                <a:solidFill>
                  <a:srgbClr val="1F2A44"/>
                </a:solidFill>
                <a:latin typeface="Libre Baskerville Bold"/>
                <a:ea typeface="Libre Baskerville Bold"/>
                <a:cs typeface="Libre Baskerville Bold"/>
                <a:sym typeface="Libre Baskerville Bold"/>
              </a:rPr>
              <a:t>Prompt Injection vs Jailbreak</a:t>
            </a:r>
          </a:p>
        </p:txBody>
      </p:sp>
      <p:sp>
        <p:nvSpPr>
          <p:cNvPr id="6" name="AutoShape 6"/>
          <p:cNvSpPr/>
          <p:nvPr/>
        </p:nvSpPr>
        <p:spPr>
          <a:xfrm>
            <a:off x="10042030" y="7760024"/>
            <a:ext cx="7082966" cy="0"/>
          </a:xfrm>
          <a:prstGeom prst="line">
            <a:avLst/>
          </a:prstGeom>
          <a:ln w="38100" cap="flat">
            <a:solidFill>
              <a:srgbClr val="4A5D73"/>
            </a:solidFill>
            <a:prstDash val="solid"/>
            <a:headEnd type="none" w="sm" len="sm"/>
            <a:tailEnd type="none" w="sm" len="sm"/>
          </a:ln>
        </p:spPr>
      </p:sp>
      <p:sp>
        <p:nvSpPr>
          <p:cNvPr id="7" name="AutoShape 7"/>
          <p:cNvSpPr/>
          <p:nvPr/>
        </p:nvSpPr>
        <p:spPr>
          <a:xfrm>
            <a:off x="10042030" y="8424810"/>
            <a:ext cx="7082966" cy="0"/>
          </a:xfrm>
          <a:prstGeom prst="line">
            <a:avLst/>
          </a:prstGeom>
          <a:ln w="38100" cap="flat">
            <a:solidFill>
              <a:srgbClr val="4A5D73"/>
            </a:solidFill>
            <a:prstDash val="solid"/>
            <a:headEnd type="none" w="sm" len="sm"/>
            <a:tailEnd type="none" w="sm" len="sm"/>
          </a:ln>
        </p:spPr>
      </p:sp>
      <p:sp>
        <p:nvSpPr>
          <p:cNvPr id="8" name="AutoShape 8"/>
          <p:cNvSpPr/>
          <p:nvPr/>
        </p:nvSpPr>
        <p:spPr>
          <a:xfrm>
            <a:off x="10042030" y="9164649"/>
            <a:ext cx="7082966" cy="0"/>
          </a:xfrm>
          <a:prstGeom prst="line">
            <a:avLst/>
          </a:prstGeom>
          <a:ln w="38100" cap="flat">
            <a:solidFill>
              <a:srgbClr val="4A5D73"/>
            </a:solidFill>
            <a:prstDash val="solid"/>
            <a:headEnd type="none" w="sm" len="sm"/>
            <a:tailEnd type="none" w="sm" len="sm"/>
          </a:ln>
        </p:spPr>
      </p:sp>
      <p:grpSp>
        <p:nvGrpSpPr>
          <p:cNvPr id="9" name="Group 9"/>
          <p:cNvGrpSpPr/>
          <p:nvPr/>
        </p:nvGrpSpPr>
        <p:grpSpPr>
          <a:xfrm>
            <a:off x="11018677" y="2241550"/>
            <a:ext cx="6240623" cy="3629025"/>
            <a:chOff x="0" y="0"/>
            <a:chExt cx="966836" cy="562231"/>
          </a:xfrm>
        </p:grpSpPr>
        <p:sp>
          <p:nvSpPr>
            <p:cNvPr id="10" name="Freeform 10"/>
            <p:cNvSpPr/>
            <p:nvPr/>
          </p:nvSpPr>
          <p:spPr>
            <a:xfrm>
              <a:off x="0" y="0"/>
              <a:ext cx="966836" cy="562231"/>
            </a:xfrm>
            <a:custGeom>
              <a:avLst/>
              <a:gdLst/>
              <a:ahLst/>
              <a:cxnLst/>
              <a:rect l="l" t="t" r="r" b="b"/>
              <a:pathLst>
                <a:path w="966836" h="562231">
                  <a:moveTo>
                    <a:pt x="62028" y="0"/>
                  </a:moveTo>
                  <a:lnTo>
                    <a:pt x="904807" y="0"/>
                  </a:lnTo>
                  <a:cubicBezTo>
                    <a:pt x="921258" y="0"/>
                    <a:pt x="937036" y="6535"/>
                    <a:pt x="948668" y="18168"/>
                  </a:cubicBezTo>
                  <a:cubicBezTo>
                    <a:pt x="960301" y="29800"/>
                    <a:pt x="966836" y="45577"/>
                    <a:pt x="966836" y="62028"/>
                  </a:cubicBezTo>
                  <a:lnTo>
                    <a:pt x="966836" y="500203"/>
                  </a:lnTo>
                  <a:cubicBezTo>
                    <a:pt x="966836" y="516653"/>
                    <a:pt x="960301" y="532431"/>
                    <a:pt x="948668" y="544063"/>
                  </a:cubicBezTo>
                  <a:cubicBezTo>
                    <a:pt x="937036" y="555696"/>
                    <a:pt x="921258" y="562231"/>
                    <a:pt x="904807" y="562231"/>
                  </a:cubicBezTo>
                  <a:lnTo>
                    <a:pt x="62028" y="562231"/>
                  </a:lnTo>
                  <a:cubicBezTo>
                    <a:pt x="27771" y="562231"/>
                    <a:pt x="0" y="534460"/>
                    <a:pt x="0" y="500203"/>
                  </a:cubicBezTo>
                  <a:lnTo>
                    <a:pt x="0" y="62028"/>
                  </a:lnTo>
                  <a:cubicBezTo>
                    <a:pt x="0" y="27771"/>
                    <a:pt x="27771" y="0"/>
                    <a:pt x="62028" y="0"/>
                  </a:cubicBezTo>
                  <a:close/>
                </a:path>
              </a:pathLst>
            </a:custGeom>
            <a:blipFill>
              <a:blip r:embed="rId2"/>
              <a:stretch>
                <a:fillRect l="-1575" r="-1575"/>
              </a:stretch>
            </a:blipFill>
          </p:spPr>
        </p:sp>
      </p:grpSp>
      <p:sp>
        <p:nvSpPr>
          <p:cNvPr id="11" name="TextBox 11"/>
          <p:cNvSpPr txBox="1"/>
          <p:nvPr/>
        </p:nvSpPr>
        <p:spPr>
          <a:xfrm>
            <a:off x="1355014" y="1163444"/>
            <a:ext cx="2823587" cy="3236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Semi-Bold"/>
                <a:ea typeface="Source Sans 3 Semi-Bold"/>
                <a:cs typeface="Source Sans 3 Semi-Bold"/>
                <a:sym typeface="Source Sans 3 Semi-Bold"/>
              </a:rPr>
              <a:t>Black-Box LLM Security</a:t>
            </a:r>
          </a:p>
        </p:txBody>
      </p:sp>
      <p:sp>
        <p:nvSpPr>
          <p:cNvPr id="13" name="TextBox 13"/>
          <p:cNvSpPr txBox="1"/>
          <p:nvPr/>
        </p:nvSpPr>
        <p:spPr>
          <a:xfrm>
            <a:off x="10042030" y="7193662"/>
            <a:ext cx="1289573" cy="265276"/>
          </a:xfrm>
          <a:prstGeom prst="rect">
            <a:avLst/>
          </a:prstGeom>
        </p:spPr>
        <p:txBody>
          <a:bodyPr lIns="0" tIns="0" rIns="0" bIns="0" rtlCol="0" anchor="t">
            <a:spAutoFit/>
          </a:bodyPr>
          <a:lstStyle/>
          <a:p>
            <a:pPr marL="0" lvl="0" indent="0" algn="l">
              <a:lnSpc>
                <a:spcPts val="2178"/>
              </a:lnSpc>
              <a:spcBef>
                <a:spcPct val="0"/>
              </a:spcBef>
            </a:pPr>
            <a:r>
              <a:rPr lang="en-US" sz="1556" b="1" spc="-31">
                <a:solidFill>
                  <a:srgbClr val="4A5D73"/>
                </a:solidFill>
                <a:latin typeface="Source Sans 3 Bold"/>
                <a:ea typeface="Source Sans 3 Bold"/>
                <a:cs typeface="Source Sans 3 Bold"/>
                <a:sym typeface="Source Sans 3 Bold"/>
              </a:rPr>
              <a:t>Attack Vector:</a:t>
            </a:r>
          </a:p>
        </p:txBody>
      </p:sp>
      <p:sp>
        <p:nvSpPr>
          <p:cNvPr id="14" name="TextBox 14"/>
          <p:cNvSpPr txBox="1"/>
          <p:nvPr/>
        </p:nvSpPr>
        <p:spPr>
          <a:xfrm>
            <a:off x="10042030" y="7894520"/>
            <a:ext cx="1435880" cy="265276"/>
          </a:xfrm>
          <a:prstGeom prst="rect">
            <a:avLst/>
          </a:prstGeom>
        </p:spPr>
        <p:txBody>
          <a:bodyPr lIns="0" tIns="0" rIns="0" bIns="0" rtlCol="0" anchor="t">
            <a:spAutoFit/>
          </a:bodyPr>
          <a:lstStyle/>
          <a:p>
            <a:pPr marL="0" lvl="0" indent="0" algn="l">
              <a:lnSpc>
                <a:spcPts val="2178"/>
              </a:lnSpc>
              <a:spcBef>
                <a:spcPct val="0"/>
              </a:spcBef>
            </a:pPr>
            <a:r>
              <a:rPr lang="en-US" sz="1556" b="1" spc="-31">
                <a:solidFill>
                  <a:srgbClr val="4A5D73"/>
                </a:solidFill>
                <a:latin typeface="Source Sans 3 Bold"/>
                <a:ea typeface="Source Sans 3 Bold"/>
                <a:cs typeface="Source Sans 3 Bold"/>
                <a:sym typeface="Source Sans 3 Bold"/>
              </a:rPr>
              <a:t>Mechanism:</a:t>
            </a:r>
          </a:p>
        </p:txBody>
      </p:sp>
      <p:sp>
        <p:nvSpPr>
          <p:cNvPr id="15" name="TextBox 15"/>
          <p:cNvSpPr txBox="1"/>
          <p:nvPr/>
        </p:nvSpPr>
        <p:spPr>
          <a:xfrm>
            <a:off x="10042030" y="8599433"/>
            <a:ext cx="1738108" cy="265276"/>
          </a:xfrm>
          <a:prstGeom prst="rect">
            <a:avLst/>
          </a:prstGeom>
        </p:spPr>
        <p:txBody>
          <a:bodyPr lIns="0" tIns="0" rIns="0" bIns="0" rtlCol="0" anchor="t">
            <a:spAutoFit/>
          </a:bodyPr>
          <a:lstStyle/>
          <a:p>
            <a:pPr marL="0" lvl="0" indent="0" algn="l">
              <a:lnSpc>
                <a:spcPts val="2178"/>
              </a:lnSpc>
              <a:spcBef>
                <a:spcPct val="0"/>
              </a:spcBef>
            </a:pPr>
            <a:r>
              <a:rPr lang="en-US" sz="1556" b="1" spc="-31">
                <a:solidFill>
                  <a:srgbClr val="4A5D73"/>
                </a:solidFill>
                <a:latin typeface="Source Sans 3 Bold"/>
                <a:ea typeface="Source Sans 3 Bold"/>
                <a:cs typeface="Source Sans 3 Bold"/>
                <a:sym typeface="Source Sans 3 Bold"/>
              </a:rPr>
              <a:t>Detection Challenge:</a:t>
            </a:r>
          </a:p>
        </p:txBody>
      </p:sp>
      <p:sp>
        <p:nvSpPr>
          <p:cNvPr id="16" name="TextBox 16"/>
          <p:cNvSpPr txBox="1"/>
          <p:nvPr/>
        </p:nvSpPr>
        <p:spPr>
          <a:xfrm>
            <a:off x="11477910" y="7184137"/>
            <a:ext cx="5781390" cy="3236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Semi-Bold"/>
                <a:ea typeface="Source Sans 3 Semi-Bold"/>
                <a:cs typeface="Source Sans 3 Semi-Bold"/>
                <a:sym typeface="Source Sans 3 Semi-Bold"/>
              </a:rPr>
              <a:t>Prompt Injection (external) / Jailbreak (user-crafted)</a:t>
            </a:r>
          </a:p>
        </p:txBody>
      </p:sp>
      <p:sp>
        <p:nvSpPr>
          <p:cNvPr id="17" name="TextBox 17"/>
          <p:cNvSpPr txBox="1"/>
          <p:nvPr/>
        </p:nvSpPr>
        <p:spPr>
          <a:xfrm>
            <a:off x="11621267" y="7884995"/>
            <a:ext cx="5367247" cy="3236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Semi-Bold"/>
                <a:ea typeface="Source Sans 3 Semi-Bold"/>
                <a:cs typeface="Source Sans 3 Semi-Bold"/>
                <a:sym typeface="Source Sans 3 Semi-Bold"/>
              </a:rPr>
              <a:t>Instruction Hijacking / Safety Guardrail Bypass</a:t>
            </a:r>
          </a:p>
        </p:txBody>
      </p:sp>
      <p:sp>
        <p:nvSpPr>
          <p:cNvPr id="18" name="TextBox 18"/>
          <p:cNvSpPr txBox="1"/>
          <p:nvPr/>
        </p:nvSpPr>
        <p:spPr>
          <a:xfrm>
            <a:off x="11892053" y="8589908"/>
            <a:ext cx="5096461" cy="3236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Semi-Bold"/>
                <a:ea typeface="Source Sans 3 Semi-Bold"/>
                <a:cs typeface="Source Sans 3 Semi-Bold"/>
                <a:sym typeface="Source Sans 3 Semi-Bold"/>
              </a:rPr>
              <a:t>Context-Dependent / Semantically Obfuscated</a:t>
            </a:r>
          </a:p>
        </p:txBody>
      </p:sp>
      <p:sp>
        <p:nvSpPr>
          <p:cNvPr id="19" name="TextBox 19"/>
          <p:cNvSpPr txBox="1"/>
          <p:nvPr/>
        </p:nvSpPr>
        <p:spPr>
          <a:xfrm>
            <a:off x="1028700" y="7415029"/>
            <a:ext cx="7854537" cy="1657142"/>
          </a:xfrm>
          <a:prstGeom prst="rect">
            <a:avLst/>
          </a:prstGeom>
        </p:spPr>
        <p:txBody>
          <a:bodyPr lIns="0" tIns="0" rIns="0" bIns="0" rtlCol="0" anchor="t">
            <a:spAutoFit/>
          </a:bodyPr>
          <a:lstStyle/>
          <a:p>
            <a:pPr marL="0" lvl="0" indent="0" algn="l">
              <a:lnSpc>
                <a:spcPts val="2636"/>
              </a:lnSpc>
              <a:spcBef>
                <a:spcPct val="0"/>
              </a:spcBef>
            </a:pPr>
            <a:r>
              <a:rPr lang="en-US" sz="1883" b="1" spc="-37">
                <a:solidFill>
                  <a:srgbClr val="4A5D73"/>
                </a:solidFill>
                <a:latin typeface="Source Sans 3 Semi-Bold"/>
                <a:ea typeface="Source Sans 3 Semi-Bold"/>
                <a:cs typeface="Source Sans 3 Semi-Bold"/>
                <a:sym typeface="Source Sans 3 Semi-Bold"/>
              </a:rPr>
              <a:t>Prompt Injection embeds malicious instructions within external input to hijack LLM behavior, redirecting the model away from its intended task. Jailbreak attacks craft adversarial prompts to bypass safety guardrails and elicit restricted outputs. While both exploit the model's instruction-following nature, they differ in origin, target, and mechanism — making detection a dual challenge.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1811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AutoShape 5"/>
          <p:cNvSpPr/>
          <p:nvPr/>
        </p:nvSpPr>
        <p:spPr>
          <a:xfrm>
            <a:off x="2464580" y="6524688"/>
            <a:ext cx="8482109" cy="0"/>
          </a:xfrm>
          <a:prstGeom prst="line">
            <a:avLst/>
          </a:prstGeom>
          <a:ln w="38100" cap="flat">
            <a:solidFill>
              <a:srgbClr val="4A5D73"/>
            </a:solidFill>
            <a:prstDash val="solid"/>
            <a:headEnd type="none" w="sm" len="sm"/>
            <a:tailEnd type="none" w="sm" len="sm"/>
          </a:ln>
        </p:spPr>
      </p:sp>
      <p:sp>
        <p:nvSpPr>
          <p:cNvPr id="6" name="AutoShape 6"/>
          <p:cNvSpPr/>
          <p:nvPr/>
        </p:nvSpPr>
        <p:spPr>
          <a:xfrm>
            <a:off x="2464580" y="7356505"/>
            <a:ext cx="8482109" cy="0"/>
          </a:xfrm>
          <a:prstGeom prst="line">
            <a:avLst/>
          </a:prstGeom>
          <a:ln w="38100" cap="flat">
            <a:solidFill>
              <a:srgbClr val="4A5D73"/>
            </a:solidFill>
            <a:prstDash val="solid"/>
            <a:headEnd type="none" w="sm" len="sm"/>
            <a:tailEnd type="none" w="sm" len="sm"/>
          </a:ln>
        </p:spPr>
      </p:sp>
      <p:sp>
        <p:nvSpPr>
          <p:cNvPr id="7" name="AutoShape 7"/>
          <p:cNvSpPr/>
          <p:nvPr/>
        </p:nvSpPr>
        <p:spPr>
          <a:xfrm>
            <a:off x="2464580" y="8207372"/>
            <a:ext cx="8482109" cy="0"/>
          </a:xfrm>
          <a:prstGeom prst="line">
            <a:avLst/>
          </a:prstGeom>
          <a:ln w="38100" cap="flat">
            <a:solidFill>
              <a:srgbClr val="4A5D73"/>
            </a:solidFill>
            <a:prstDash val="solid"/>
            <a:headEnd type="none" w="sm" len="sm"/>
            <a:tailEnd type="none" w="sm" len="sm"/>
          </a:ln>
        </p:spPr>
      </p:sp>
      <p:sp>
        <p:nvSpPr>
          <p:cNvPr id="8" name="AutoShape 8"/>
          <p:cNvSpPr/>
          <p:nvPr/>
        </p:nvSpPr>
        <p:spPr>
          <a:xfrm>
            <a:off x="2464580" y="9039189"/>
            <a:ext cx="8482109" cy="0"/>
          </a:xfrm>
          <a:prstGeom prst="line">
            <a:avLst/>
          </a:prstGeom>
          <a:ln w="38100" cap="flat">
            <a:solidFill>
              <a:srgbClr val="4A5D73"/>
            </a:solidFill>
            <a:prstDash val="solid"/>
            <a:headEnd type="none" w="sm" len="sm"/>
            <a:tailEnd type="none" w="sm" len="sm"/>
          </a:ln>
        </p:spPr>
      </p:sp>
      <p:grpSp>
        <p:nvGrpSpPr>
          <p:cNvPr id="9" name="Group 9"/>
          <p:cNvGrpSpPr/>
          <p:nvPr/>
        </p:nvGrpSpPr>
        <p:grpSpPr>
          <a:xfrm>
            <a:off x="12138282" y="2241550"/>
            <a:ext cx="5121018" cy="7016750"/>
            <a:chOff x="0" y="0"/>
            <a:chExt cx="793380" cy="1087078"/>
          </a:xfrm>
        </p:grpSpPr>
        <p:sp>
          <p:nvSpPr>
            <p:cNvPr id="10" name="Freeform 10"/>
            <p:cNvSpPr/>
            <p:nvPr/>
          </p:nvSpPr>
          <p:spPr>
            <a:xfrm>
              <a:off x="0" y="0"/>
              <a:ext cx="793380" cy="1087078"/>
            </a:xfrm>
            <a:custGeom>
              <a:avLst/>
              <a:gdLst/>
              <a:ahLst/>
              <a:cxnLst/>
              <a:rect l="l" t="t" r="r" b="b"/>
              <a:pathLst>
                <a:path w="793380" h="1087078">
                  <a:moveTo>
                    <a:pt x="75590" y="0"/>
                  </a:moveTo>
                  <a:lnTo>
                    <a:pt x="717790" y="0"/>
                  </a:lnTo>
                  <a:cubicBezTo>
                    <a:pt x="759537" y="0"/>
                    <a:pt x="793380" y="33843"/>
                    <a:pt x="793380" y="75590"/>
                  </a:cubicBezTo>
                  <a:lnTo>
                    <a:pt x="793380" y="1011488"/>
                  </a:lnTo>
                  <a:cubicBezTo>
                    <a:pt x="793380" y="1053236"/>
                    <a:pt x="759537" y="1087078"/>
                    <a:pt x="717790" y="1087078"/>
                  </a:cubicBezTo>
                  <a:lnTo>
                    <a:pt x="75590" y="1087078"/>
                  </a:lnTo>
                  <a:cubicBezTo>
                    <a:pt x="33843" y="1087078"/>
                    <a:pt x="0" y="1053236"/>
                    <a:pt x="0" y="1011488"/>
                  </a:cubicBezTo>
                  <a:lnTo>
                    <a:pt x="0" y="75590"/>
                  </a:lnTo>
                  <a:cubicBezTo>
                    <a:pt x="0" y="33843"/>
                    <a:pt x="33843" y="0"/>
                    <a:pt x="75590" y="0"/>
                  </a:cubicBezTo>
                  <a:close/>
                </a:path>
              </a:pathLst>
            </a:custGeom>
            <a:blipFill>
              <a:blip r:embed="rId2"/>
              <a:stretch>
                <a:fillRect t="-73" b="-73"/>
              </a:stretch>
            </a:blipFill>
          </p:spPr>
        </p:sp>
      </p:grpSp>
      <p:sp>
        <p:nvSpPr>
          <p:cNvPr id="11" name="TextBox 11"/>
          <p:cNvSpPr txBox="1"/>
          <p:nvPr/>
        </p:nvSpPr>
        <p:spPr>
          <a:xfrm>
            <a:off x="1507414" y="1172969"/>
            <a:ext cx="2823587" cy="273472"/>
          </a:xfrm>
          <a:prstGeom prst="rect">
            <a:avLst/>
          </a:prstGeom>
        </p:spPr>
        <p:txBody>
          <a:bodyPr lIns="0" tIns="0" rIns="0" bIns="0" rtlCol="0" anchor="t">
            <a:spAutoFit/>
          </a:bodyPr>
          <a:lstStyle/>
          <a:p>
            <a:pPr marL="0" lvl="0" indent="0" algn="l">
              <a:lnSpc>
                <a:spcPts val="2251"/>
              </a:lnSpc>
              <a:spcBef>
                <a:spcPct val="0"/>
              </a:spcBef>
            </a:pPr>
            <a:r>
              <a:rPr lang="en-US" sz="1608" b="1" spc="-32">
                <a:solidFill>
                  <a:srgbClr val="4A5D73"/>
                </a:solidFill>
                <a:latin typeface="Source Sans 3 Semi-Bold"/>
                <a:ea typeface="Source Sans 3 Semi-Bold"/>
                <a:cs typeface="Source Sans 3 Semi-Bold"/>
                <a:sym typeface="Source Sans 3 Semi-Bold"/>
              </a:rPr>
              <a:t>Black-Box Detection</a:t>
            </a:r>
          </a:p>
        </p:txBody>
      </p:sp>
      <p:sp>
        <p:nvSpPr>
          <p:cNvPr id="13" name="TextBox 13"/>
          <p:cNvSpPr txBox="1"/>
          <p:nvPr/>
        </p:nvSpPr>
        <p:spPr>
          <a:xfrm>
            <a:off x="13008289" y="1172969"/>
            <a:ext cx="3930366" cy="273472"/>
          </a:xfrm>
          <a:prstGeom prst="rect">
            <a:avLst/>
          </a:prstGeom>
        </p:spPr>
        <p:txBody>
          <a:bodyPr lIns="0" tIns="0" rIns="0" bIns="0" rtlCol="0" anchor="t">
            <a:spAutoFit/>
          </a:bodyPr>
          <a:lstStyle/>
          <a:p>
            <a:pPr marL="0" lvl="0" indent="0" algn="r">
              <a:lnSpc>
                <a:spcPts val="2251"/>
              </a:lnSpc>
              <a:spcBef>
                <a:spcPct val="0"/>
              </a:spcBef>
            </a:pPr>
            <a:r>
              <a:rPr lang="en-US" sz="1608" b="1" spc="-32" dirty="0">
                <a:solidFill>
                  <a:srgbClr val="4A5D73"/>
                </a:solidFill>
                <a:latin typeface="Source Sans 3 Semi-Bold"/>
                <a:ea typeface="Source Sans 3 Semi-Bold"/>
                <a:cs typeface="Source Sans 3 Semi-Bold"/>
                <a:sym typeface="Source Sans 3 Semi-Bold"/>
              </a:rPr>
              <a:t>Prompt Injection &amp; Jailbreak</a:t>
            </a:r>
          </a:p>
        </p:txBody>
      </p:sp>
      <p:sp>
        <p:nvSpPr>
          <p:cNvPr id="14" name="TextBox 14"/>
          <p:cNvSpPr txBox="1"/>
          <p:nvPr/>
        </p:nvSpPr>
        <p:spPr>
          <a:xfrm>
            <a:off x="1181100" y="2498725"/>
            <a:ext cx="7962900" cy="2797076"/>
          </a:xfrm>
          <a:prstGeom prst="rect">
            <a:avLst/>
          </a:prstGeom>
        </p:spPr>
        <p:txBody>
          <a:bodyPr lIns="0" tIns="0" rIns="0" bIns="0" rtlCol="0" anchor="t">
            <a:spAutoFit/>
          </a:bodyPr>
          <a:lstStyle/>
          <a:p>
            <a:pPr marL="0" lvl="0" indent="0" algn="l">
              <a:lnSpc>
                <a:spcPts val="10892"/>
              </a:lnSpc>
            </a:pPr>
            <a:r>
              <a:rPr lang="en-US" sz="9992" b="1">
                <a:solidFill>
                  <a:srgbClr val="1F2A44"/>
                </a:solidFill>
                <a:latin typeface="Libre Baskerville Bold"/>
                <a:ea typeface="Libre Baskerville Bold"/>
                <a:cs typeface="Libre Baskerville Bold"/>
                <a:sym typeface="Libre Baskerville Bold"/>
              </a:rPr>
              <a:t>Literature Survey</a:t>
            </a:r>
          </a:p>
        </p:txBody>
      </p:sp>
      <p:sp>
        <p:nvSpPr>
          <p:cNvPr id="15" name="TextBox 15"/>
          <p:cNvSpPr txBox="1"/>
          <p:nvPr/>
        </p:nvSpPr>
        <p:spPr>
          <a:xfrm>
            <a:off x="1181100" y="5826221"/>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01</a:t>
            </a:r>
          </a:p>
        </p:txBody>
      </p:sp>
      <p:sp>
        <p:nvSpPr>
          <p:cNvPr id="16" name="TextBox 16"/>
          <p:cNvSpPr txBox="1"/>
          <p:nvPr/>
        </p:nvSpPr>
        <p:spPr>
          <a:xfrm>
            <a:off x="1181100" y="6658038"/>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02</a:t>
            </a:r>
          </a:p>
        </p:txBody>
      </p:sp>
      <p:sp>
        <p:nvSpPr>
          <p:cNvPr id="17" name="TextBox 17"/>
          <p:cNvSpPr txBox="1"/>
          <p:nvPr/>
        </p:nvSpPr>
        <p:spPr>
          <a:xfrm>
            <a:off x="1181100" y="7508905"/>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03</a:t>
            </a:r>
          </a:p>
        </p:txBody>
      </p:sp>
      <p:sp>
        <p:nvSpPr>
          <p:cNvPr id="18" name="TextBox 18"/>
          <p:cNvSpPr txBox="1"/>
          <p:nvPr/>
        </p:nvSpPr>
        <p:spPr>
          <a:xfrm>
            <a:off x="1181100" y="8340722"/>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04</a:t>
            </a:r>
          </a:p>
        </p:txBody>
      </p:sp>
      <p:sp>
        <p:nvSpPr>
          <p:cNvPr id="19" name="TextBox 19"/>
          <p:cNvSpPr txBox="1"/>
          <p:nvPr/>
        </p:nvSpPr>
        <p:spPr>
          <a:xfrm>
            <a:off x="2464580" y="5905500"/>
            <a:ext cx="7854537" cy="273472"/>
          </a:xfrm>
          <a:prstGeom prst="rect">
            <a:avLst/>
          </a:prstGeom>
        </p:spPr>
        <p:txBody>
          <a:bodyPr lIns="0" tIns="0" rIns="0" bIns="0" rtlCol="0" anchor="t">
            <a:spAutoFit/>
          </a:bodyPr>
          <a:lstStyle/>
          <a:p>
            <a:pPr marL="0" lvl="0" indent="0" algn="l">
              <a:lnSpc>
                <a:spcPts val="2251"/>
              </a:lnSpc>
              <a:spcBef>
                <a:spcPct val="0"/>
              </a:spcBef>
            </a:pPr>
            <a:r>
              <a:rPr lang="en-US" sz="1608" b="1" spc="-32">
                <a:solidFill>
                  <a:srgbClr val="4A5D73"/>
                </a:solidFill>
                <a:latin typeface="Source Sans 3 Semi-Bold"/>
                <a:ea typeface="Source Sans 3 Semi-Bold"/>
                <a:cs typeface="Source Sans 3 Semi-Bold"/>
                <a:sym typeface="Source Sans 3 Semi-Bold"/>
              </a:rPr>
              <a:t>Key studies on adversarial attacks targeting LLMs (Perez &amp; Ribeiro, 2022; Greshake et al., 2023)</a:t>
            </a:r>
          </a:p>
        </p:txBody>
      </p:sp>
      <p:sp>
        <p:nvSpPr>
          <p:cNvPr id="20" name="TextBox 20"/>
          <p:cNvSpPr txBox="1"/>
          <p:nvPr/>
        </p:nvSpPr>
        <p:spPr>
          <a:xfrm>
            <a:off x="2464580" y="6737317"/>
            <a:ext cx="7854537" cy="273472"/>
          </a:xfrm>
          <a:prstGeom prst="rect">
            <a:avLst/>
          </a:prstGeom>
        </p:spPr>
        <p:txBody>
          <a:bodyPr lIns="0" tIns="0" rIns="0" bIns="0" rtlCol="0" anchor="t">
            <a:spAutoFit/>
          </a:bodyPr>
          <a:lstStyle/>
          <a:p>
            <a:pPr marL="0" lvl="0" indent="0" algn="l">
              <a:lnSpc>
                <a:spcPts val="2251"/>
              </a:lnSpc>
              <a:spcBef>
                <a:spcPct val="0"/>
              </a:spcBef>
            </a:pPr>
            <a:r>
              <a:rPr lang="en-US" sz="1608" b="1" spc="-32">
                <a:solidFill>
                  <a:srgbClr val="4A5D73"/>
                </a:solidFill>
                <a:latin typeface="Source Sans 3 Semi-Bold"/>
                <a:ea typeface="Source Sans 3 Semi-Bold"/>
                <a:cs typeface="Source Sans 3 Semi-Bold"/>
                <a:sym typeface="Source Sans 3 Semi-Bold"/>
              </a:rPr>
              <a:t>Detection approaches: output monitoring, semantic similarity, and classifier-based methods</a:t>
            </a:r>
          </a:p>
        </p:txBody>
      </p:sp>
      <p:sp>
        <p:nvSpPr>
          <p:cNvPr id="21" name="TextBox 21"/>
          <p:cNvSpPr txBox="1"/>
          <p:nvPr/>
        </p:nvSpPr>
        <p:spPr>
          <a:xfrm>
            <a:off x="2464580" y="7588184"/>
            <a:ext cx="8482109" cy="273472"/>
          </a:xfrm>
          <a:prstGeom prst="rect">
            <a:avLst/>
          </a:prstGeom>
        </p:spPr>
        <p:txBody>
          <a:bodyPr lIns="0" tIns="0" rIns="0" bIns="0" rtlCol="0" anchor="t">
            <a:spAutoFit/>
          </a:bodyPr>
          <a:lstStyle/>
          <a:p>
            <a:pPr marL="0" lvl="0" indent="0" algn="l">
              <a:lnSpc>
                <a:spcPts val="2251"/>
              </a:lnSpc>
              <a:spcBef>
                <a:spcPct val="0"/>
              </a:spcBef>
            </a:pPr>
            <a:r>
              <a:rPr lang="en-US" sz="1608" b="1" spc="-32">
                <a:solidFill>
                  <a:srgbClr val="4A5D73"/>
                </a:solidFill>
                <a:latin typeface="Source Sans 3 Semi-Bold"/>
                <a:ea typeface="Source Sans 3 Semi-Bold"/>
                <a:cs typeface="Source Sans 3 Semi-Bold"/>
                <a:sym typeface="Source Sans 3 Semi-Bold"/>
              </a:rPr>
              <a:t>Benchmark datasets: AdvBench, JailbreakBench, and TrustLLM evaluation suites</a:t>
            </a:r>
          </a:p>
        </p:txBody>
      </p:sp>
      <p:sp>
        <p:nvSpPr>
          <p:cNvPr id="22" name="TextBox 22"/>
          <p:cNvSpPr txBox="1"/>
          <p:nvPr/>
        </p:nvSpPr>
        <p:spPr>
          <a:xfrm>
            <a:off x="2464580" y="8420001"/>
            <a:ext cx="8482109" cy="273472"/>
          </a:xfrm>
          <a:prstGeom prst="rect">
            <a:avLst/>
          </a:prstGeom>
        </p:spPr>
        <p:txBody>
          <a:bodyPr lIns="0" tIns="0" rIns="0" bIns="0" rtlCol="0" anchor="t">
            <a:spAutoFit/>
          </a:bodyPr>
          <a:lstStyle/>
          <a:p>
            <a:pPr marL="0" lvl="0" indent="0" algn="l">
              <a:lnSpc>
                <a:spcPts val="2251"/>
              </a:lnSpc>
              <a:spcBef>
                <a:spcPct val="0"/>
              </a:spcBef>
            </a:pPr>
            <a:r>
              <a:rPr lang="en-US" sz="1608" b="1" spc="-32">
                <a:solidFill>
                  <a:srgbClr val="4A5D73"/>
                </a:solidFill>
                <a:latin typeface="Source Sans 3 Semi-Bold"/>
                <a:ea typeface="Source Sans 3 Semi-Bold"/>
                <a:cs typeface="Source Sans 3 Semi-Bold"/>
                <a:sym typeface="Source Sans 3 Semi-Bold"/>
              </a:rPr>
              <a:t>Evaluation metrics: attack success rate (ASR), false positive rate, and detection F1-score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355014" y="1182494"/>
            <a:ext cx="2823587" cy="198120"/>
          </a:xfrm>
          <a:prstGeom prst="rect">
            <a:avLst/>
          </a:prstGeom>
        </p:spPr>
        <p:txBody>
          <a:bodyPr lIns="0" tIns="0" rIns="0" bIns="0" rtlCol="0" anchor="t">
            <a:spAutoFit/>
          </a:bodyPr>
          <a:lstStyle/>
          <a:p>
            <a:pPr marL="0" lvl="0" indent="0" algn="l">
              <a:lnSpc>
                <a:spcPts val="1679"/>
              </a:lnSpc>
              <a:spcBef>
                <a:spcPct val="0"/>
              </a:spcBef>
            </a:pPr>
            <a:r>
              <a:rPr lang="en-US" sz="1200" b="1" spc="-24">
                <a:solidFill>
                  <a:srgbClr val="4A5D73"/>
                </a:solidFill>
                <a:latin typeface="Source Sans 3 Semi-Bold"/>
                <a:ea typeface="Source Sans 3 Semi-Bold"/>
                <a:cs typeface="Source Sans 3 Semi-Bold"/>
                <a:sym typeface="Source Sans 3 Semi-Bold"/>
              </a:rPr>
              <a:t>Ingoude Company</a:t>
            </a:r>
          </a:p>
        </p:txBody>
      </p:sp>
      <p:sp>
        <p:nvSpPr>
          <p:cNvPr id="7" name="TextBox 7"/>
          <p:cNvSpPr txBox="1"/>
          <p:nvPr/>
        </p:nvSpPr>
        <p:spPr>
          <a:xfrm>
            <a:off x="2759321" y="2662904"/>
            <a:ext cx="13074158" cy="1415951"/>
          </a:xfrm>
          <a:prstGeom prst="rect">
            <a:avLst/>
          </a:prstGeom>
        </p:spPr>
        <p:txBody>
          <a:bodyPr lIns="0" tIns="0" rIns="0" bIns="0" rtlCol="0" anchor="t">
            <a:spAutoFit/>
          </a:bodyPr>
          <a:lstStyle/>
          <a:p>
            <a:pPr marL="0" lvl="0" indent="0" algn="ctr">
              <a:lnSpc>
                <a:spcPts val="10892"/>
              </a:lnSpc>
            </a:pPr>
            <a:r>
              <a:rPr lang="en-US" sz="9992" b="1">
                <a:solidFill>
                  <a:srgbClr val="1F2A44"/>
                </a:solidFill>
                <a:latin typeface="Libre Baskerville Bold"/>
                <a:ea typeface="Libre Baskerville Bold"/>
                <a:cs typeface="Libre Baskerville Bold"/>
                <a:sym typeface="Libre Baskerville Bold"/>
              </a:rPr>
              <a:t>Research Gaps</a:t>
            </a:r>
          </a:p>
        </p:txBody>
      </p:sp>
      <p:sp>
        <p:nvSpPr>
          <p:cNvPr id="8" name="TextBox 8"/>
          <p:cNvSpPr txBox="1"/>
          <p:nvPr/>
        </p:nvSpPr>
        <p:spPr>
          <a:xfrm>
            <a:off x="3268584" y="4192587"/>
            <a:ext cx="12055631" cy="1835151"/>
          </a:xfrm>
          <a:prstGeom prst="rect">
            <a:avLst/>
          </a:prstGeom>
        </p:spPr>
        <p:txBody>
          <a:bodyPr lIns="0" tIns="0" rIns="0" bIns="0" rtlCol="0" anchor="t">
            <a:spAutoFit/>
          </a:bodyPr>
          <a:lstStyle/>
          <a:p>
            <a:pPr marL="0" lvl="0" indent="0" algn="l">
              <a:lnSpc>
                <a:spcPts val="4899"/>
              </a:lnSpc>
            </a:pPr>
            <a:r>
              <a:rPr lang="en-US" sz="3499" b="1" spc="-69">
                <a:solidFill>
                  <a:srgbClr val="4A5D73"/>
                </a:solidFill>
                <a:latin typeface="Source Sans 3 Semi-Bold"/>
                <a:ea typeface="Source Sans 3 Semi-Bold"/>
                <a:cs typeface="Source Sans 3 Semi-Bold"/>
                <a:sym typeface="Source Sans 3 Semi-Bold"/>
              </a:rPr>
              <a:t>Most existing detection methods rely on white-box access to model internals (weights, logits, or activations), leaving black-box deployment scenarios largely unexplored and underprotected.</a:t>
            </a:r>
          </a:p>
        </p:txBody>
      </p:sp>
      <p:sp>
        <p:nvSpPr>
          <p:cNvPr id="9" name="TextBox 9"/>
          <p:cNvSpPr txBox="1"/>
          <p:nvPr/>
        </p:nvSpPr>
        <p:spPr>
          <a:xfrm>
            <a:off x="3268584" y="6367525"/>
            <a:ext cx="12055631" cy="2454275"/>
          </a:xfrm>
          <a:prstGeom prst="rect">
            <a:avLst/>
          </a:prstGeom>
        </p:spPr>
        <p:txBody>
          <a:bodyPr lIns="0" tIns="0" rIns="0" bIns="0" rtlCol="0" anchor="t">
            <a:spAutoFit/>
          </a:bodyPr>
          <a:lstStyle/>
          <a:p>
            <a:pPr marL="0" lvl="0" indent="0" algn="l">
              <a:lnSpc>
                <a:spcPts val="4900"/>
              </a:lnSpc>
            </a:pPr>
            <a:r>
              <a:rPr lang="en-US" sz="3500" b="1" spc="-70">
                <a:solidFill>
                  <a:srgbClr val="4A5D73"/>
                </a:solidFill>
                <a:latin typeface="Source Sans 3 Semi-Bold"/>
                <a:ea typeface="Source Sans 3 Semi-Bold"/>
                <a:cs typeface="Source Sans 3 Semi-Bold"/>
                <a:sym typeface="Source Sans 3 Semi-Bold"/>
              </a:rPr>
              <a:t>Current benchmarks lack diversity in adversarial prompt types and fail to evaluate cross-domain generalization, resulting in detection systems that are brittle against novel or adaptive injection strategies.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5629275"/>
            <a:ext cx="7664357" cy="3629025"/>
            <a:chOff x="0" y="0"/>
            <a:chExt cx="1187409" cy="562231"/>
          </a:xfrm>
        </p:grpSpPr>
        <p:sp>
          <p:nvSpPr>
            <p:cNvPr id="6" name="Freeform 6"/>
            <p:cNvSpPr/>
            <p:nvPr/>
          </p:nvSpPr>
          <p:spPr>
            <a:xfrm>
              <a:off x="0" y="0"/>
              <a:ext cx="1187409" cy="562231"/>
            </a:xfrm>
            <a:custGeom>
              <a:avLst/>
              <a:gdLst/>
              <a:ahLst/>
              <a:cxnLst/>
              <a:rect l="l" t="t" r="r" b="b"/>
              <a:pathLst>
                <a:path w="1187409" h="562231">
                  <a:moveTo>
                    <a:pt x="50506" y="0"/>
                  </a:moveTo>
                  <a:lnTo>
                    <a:pt x="1136903" y="0"/>
                  </a:lnTo>
                  <a:cubicBezTo>
                    <a:pt x="1164797" y="0"/>
                    <a:pt x="1187409" y="22612"/>
                    <a:pt x="1187409" y="50506"/>
                  </a:cubicBezTo>
                  <a:lnTo>
                    <a:pt x="1187409" y="511725"/>
                  </a:lnTo>
                  <a:cubicBezTo>
                    <a:pt x="1187409" y="539619"/>
                    <a:pt x="1164797" y="562231"/>
                    <a:pt x="1136903" y="562231"/>
                  </a:cubicBezTo>
                  <a:lnTo>
                    <a:pt x="50506" y="562231"/>
                  </a:lnTo>
                  <a:cubicBezTo>
                    <a:pt x="22612" y="562231"/>
                    <a:pt x="0" y="539619"/>
                    <a:pt x="0" y="511725"/>
                  </a:cubicBezTo>
                  <a:lnTo>
                    <a:pt x="0" y="50506"/>
                  </a:lnTo>
                  <a:cubicBezTo>
                    <a:pt x="0" y="22612"/>
                    <a:pt x="22612" y="0"/>
                    <a:pt x="50506" y="0"/>
                  </a:cubicBezTo>
                  <a:close/>
                </a:path>
              </a:pathLst>
            </a:custGeom>
            <a:blipFill>
              <a:blip r:embed="rId2"/>
              <a:stretch>
                <a:fillRect l="-105" r="-105"/>
              </a:stretch>
            </a:blipFill>
          </p:spPr>
        </p:sp>
      </p:grpSp>
      <p:sp>
        <p:nvSpPr>
          <p:cNvPr id="7" name="TextBox 7"/>
          <p:cNvSpPr txBox="1"/>
          <p:nvPr/>
        </p:nvSpPr>
        <p:spPr>
          <a:xfrm>
            <a:off x="1355014" y="1163444"/>
            <a:ext cx="2823587" cy="322977"/>
          </a:xfrm>
          <a:prstGeom prst="rect">
            <a:avLst/>
          </a:prstGeom>
        </p:spPr>
        <p:txBody>
          <a:bodyPr lIns="0" tIns="0" rIns="0" bIns="0" rtlCol="0" anchor="t">
            <a:spAutoFit/>
          </a:bodyPr>
          <a:lstStyle/>
          <a:p>
            <a:pPr marL="0" lvl="0" indent="0" algn="l">
              <a:lnSpc>
                <a:spcPts val="2673"/>
              </a:lnSpc>
              <a:spcBef>
                <a:spcPct val="0"/>
              </a:spcBef>
            </a:pPr>
            <a:r>
              <a:rPr lang="en-US" sz="1909" b="1" spc="-38">
                <a:solidFill>
                  <a:srgbClr val="4A5D73"/>
                </a:solidFill>
                <a:latin typeface="Source Sans 3 Semi-Bold"/>
                <a:ea typeface="Source Sans 3 Semi-Bold"/>
                <a:cs typeface="Source Sans 3 Semi-Bold"/>
                <a:sym typeface="Source Sans 3 Semi-Bold"/>
              </a:rPr>
              <a:t>Black-Box LLM Security</a:t>
            </a:r>
          </a:p>
        </p:txBody>
      </p:sp>
      <p:sp>
        <p:nvSpPr>
          <p:cNvPr id="9" name="TextBox 9"/>
          <p:cNvSpPr txBox="1"/>
          <p:nvPr/>
        </p:nvSpPr>
        <p:spPr>
          <a:xfrm>
            <a:off x="1028700" y="2346325"/>
            <a:ext cx="9527094" cy="2797076"/>
          </a:xfrm>
          <a:prstGeom prst="rect">
            <a:avLst/>
          </a:prstGeom>
        </p:spPr>
        <p:txBody>
          <a:bodyPr lIns="0" tIns="0" rIns="0" bIns="0" rtlCol="0" anchor="t">
            <a:spAutoFit/>
          </a:bodyPr>
          <a:lstStyle/>
          <a:p>
            <a:pPr marL="0" lvl="0" indent="0" algn="l">
              <a:lnSpc>
                <a:spcPts val="10892"/>
              </a:lnSpc>
            </a:pPr>
            <a:r>
              <a:rPr lang="en-US" sz="9992" b="1">
                <a:solidFill>
                  <a:srgbClr val="1F2A44"/>
                </a:solidFill>
                <a:latin typeface="Libre Baskerville Bold"/>
                <a:ea typeface="Libre Baskerville Bold"/>
                <a:cs typeface="Libre Baskerville Bold"/>
                <a:sym typeface="Libre Baskerville Bold"/>
              </a:rPr>
              <a:t>Problem Statement</a:t>
            </a:r>
          </a:p>
        </p:txBody>
      </p:sp>
      <p:sp>
        <p:nvSpPr>
          <p:cNvPr id="10" name="TextBox 10"/>
          <p:cNvSpPr txBox="1"/>
          <p:nvPr/>
        </p:nvSpPr>
        <p:spPr>
          <a:xfrm>
            <a:off x="10184917" y="2184400"/>
            <a:ext cx="6236808" cy="7521075"/>
          </a:xfrm>
          <a:prstGeom prst="rect">
            <a:avLst/>
          </a:prstGeom>
        </p:spPr>
        <p:txBody>
          <a:bodyPr lIns="0" tIns="0" rIns="0" bIns="0" rtlCol="0" anchor="t">
            <a:spAutoFit/>
          </a:bodyPr>
          <a:lstStyle/>
          <a:p>
            <a:pPr marL="0" lvl="0" indent="0" algn="l">
              <a:lnSpc>
                <a:spcPts val="4028"/>
              </a:lnSpc>
              <a:spcBef>
                <a:spcPct val="0"/>
              </a:spcBef>
            </a:pPr>
            <a:r>
              <a:rPr lang="en-US" sz="2877" b="1" spc="-57">
                <a:solidFill>
                  <a:srgbClr val="4A5D73"/>
                </a:solidFill>
                <a:latin typeface="Source Sans 3 Semi-Bold"/>
                <a:ea typeface="Source Sans 3 Semi-Bold"/>
                <a:cs typeface="Source Sans 3 Semi-Bold"/>
                <a:sym typeface="Source Sans 3 Semi-Bold"/>
              </a:rPr>
              <a:t>The core challenge is developing a reliable detection system for prompt injection and jailbreak attacks without internal model access. Key problem dimensions include: (1) detecting malicious inputs in real-time under strict latency constraints, (2) classifying attacks purely from observable input-output behavior, and (3) generalizing across diverse LLM deployments where internal weights and architectures remain inaccessible. Existing solutions rely on white-box access, leaving black-box API-based deployments critically unprotected.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9404763" y="6999453"/>
            <a:ext cx="6096443" cy="2258847"/>
            <a:chOff x="0" y="0"/>
            <a:chExt cx="1605647" cy="594923"/>
          </a:xfrm>
        </p:grpSpPr>
        <p:sp>
          <p:nvSpPr>
            <p:cNvPr id="6" name="Freeform 6"/>
            <p:cNvSpPr/>
            <p:nvPr/>
          </p:nvSpPr>
          <p:spPr>
            <a:xfrm>
              <a:off x="0" y="0"/>
              <a:ext cx="1605647" cy="594923"/>
            </a:xfrm>
            <a:custGeom>
              <a:avLst/>
              <a:gdLst/>
              <a:ahLst/>
              <a:cxnLst/>
              <a:rect l="l" t="t" r="r" b="b"/>
              <a:pathLst>
                <a:path w="1605647" h="594923">
                  <a:moveTo>
                    <a:pt x="64765" y="0"/>
                  </a:moveTo>
                  <a:lnTo>
                    <a:pt x="1540882" y="0"/>
                  </a:lnTo>
                  <a:cubicBezTo>
                    <a:pt x="1576651" y="0"/>
                    <a:pt x="1605647" y="28996"/>
                    <a:pt x="1605647" y="64765"/>
                  </a:cubicBezTo>
                  <a:lnTo>
                    <a:pt x="1605647" y="530157"/>
                  </a:lnTo>
                  <a:cubicBezTo>
                    <a:pt x="1605647" y="547334"/>
                    <a:pt x="1598824" y="563807"/>
                    <a:pt x="1586678" y="575953"/>
                  </a:cubicBezTo>
                  <a:cubicBezTo>
                    <a:pt x="1574532" y="588099"/>
                    <a:pt x="1558059" y="594923"/>
                    <a:pt x="1540882" y="594923"/>
                  </a:cubicBezTo>
                  <a:lnTo>
                    <a:pt x="64765" y="594923"/>
                  </a:lnTo>
                  <a:cubicBezTo>
                    <a:pt x="28996" y="594923"/>
                    <a:pt x="0" y="565926"/>
                    <a:pt x="0" y="530157"/>
                  </a:cubicBezTo>
                  <a:lnTo>
                    <a:pt x="0" y="64765"/>
                  </a:lnTo>
                  <a:cubicBezTo>
                    <a:pt x="0" y="28996"/>
                    <a:pt x="28996" y="0"/>
                    <a:pt x="64765" y="0"/>
                  </a:cubicBezTo>
                  <a:close/>
                </a:path>
              </a:pathLst>
            </a:custGeom>
            <a:ln w="38100" cap="rnd">
              <a:solidFill>
                <a:srgbClr val="E5E7EB"/>
              </a:solidFill>
              <a:prstDash val="solid"/>
              <a:round/>
            </a:ln>
          </p:spPr>
        </p:sp>
        <p:sp>
          <p:nvSpPr>
            <p:cNvPr id="7" name="TextBox 7"/>
            <p:cNvSpPr txBox="1"/>
            <p:nvPr/>
          </p:nvSpPr>
          <p:spPr>
            <a:xfrm>
              <a:off x="0" y="-38100"/>
              <a:ext cx="1605647" cy="63302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028700" y="6001427"/>
            <a:ext cx="7143287" cy="3256873"/>
            <a:chOff x="0" y="0"/>
            <a:chExt cx="1106682" cy="504575"/>
          </a:xfrm>
        </p:grpSpPr>
        <p:sp>
          <p:nvSpPr>
            <p:cNvPr id="9" name="Freeform 9"/>
            <p:cNvSpPr/>
            <p:nvPr/>
          </p:nvSpPr>
          <p:spPr>
            <a:xfrm>
              <a:off x="0" y="0"/>
              <a:ext cx="1106682" cy="504575"/>
            </a:xfrm>
            <a:custGeom>
              <a:avLst/>
              <a:gdLst/>
              <a:ahLst/>
              <a:cxnLst/>
              <a:rect l="l" t="t" r="r" b="b"/>
              <a:pathLst>
                <a:path w="1106682" h="504575">
                  <a:moveTo>
                    <a:pt x="54190" y="0"/>
                  </a:moveTo>
                  <a:lnTo>
                    <a:pt x="1052492" y="0"/>
                  </a:lnTo>
                  <a:cubicBezTo>
                    <a:pt x="1082420" y="0"/>
                    <a:pt x="1106682" y="24262"/>
                    <a:pt x="1106682" y="54190"/>
                  </a:cubicBezTo>
                  <a:lnTo>
                    <a:pt x="1106682" y="450385"/>
                  </a:lnTo>
                  <a:cubicBezTo>
                    <a:pt x="1106682" y="480313"/>
                    <a:pt x="1082420" y="504575"/>
                    <a:pt x="1052492" y="504575"/>
                  </a:cubicBezTo>
                  <a:lnTo>
                    <a:pt x="54190" y="504575"/>
                  </a:lnTo>
                  <a:cubicBezTo>
                    <a:pt x="24262" y="504575"/>
                    <a:pt x="0" y="480313"/>
                    <a:pt x="0" y="450385"/>
                  </a:cubicBezTo>
                  <a:lnTo>
                    <a:pt x="0" y="54190"/>
                  </a:lnTo>
                  <a:cubicBezTo>
                    <a:pt x="0" y="24262"/>
                    <a:pt x="24262" y="0"/>
                    <a:pt x="54190" y="0"/>
                  </a:cubicBezTo>
                  <a:close/>
                </a:path>
              </a:pathLst>
            </a:custGeom>
            <a:blipFill>
              <a:blip r:embed="rId2"/>
              <a:stretch>
                <a:fillRect l="-102" r="-102"/>
              </a:stretch>
            </a:blipFill>
          </p:spPr>
        </p:sp>
      </p:grpSp>
      <p:sp>
        <p:nvSpPr>
          <p:cNvPr id="10" name="TextBox 10"/>
          <p:cNvSpPr txBox="1"/>
          <p:nvPr/>
        </p:nvSpPr>
        <p:spPr>
          <a:xfrm>
            <a:off x="1355014" y="1153919"/>
            <a:ext cx="2823587" cy="398066"/>
          </a:xfrm>
          <a:prstGeom prst="rect">
            <a:avLst/>
          </a:prstGeom>
        </p:spPr>
        <p:txBody>
          <a:bodyPr lIns="0" tIns="0" rIns="0" bIns="0" rtlCol="0" anchor="t">
            <a:spAutoFit/>
          </a:bodyPr>
          <a:lstStyle/>
          <a:p>
            <a:pPr marL="0" lvl="0" indent="0" algn="l">
              <a:lnSpc>
                <a:spcPts val="3259"/>
              </a:lnSpc>
              <a:spcBef>
                <a:spcPct val="0"/>
              </a:spcBef>
            </a:pPr>
            <a:r>
              <a:rPr lang="en-US" sz="2328" b="1" spc="-46">
                <a:solidFill>
                  <a:srgbClr val="4A5D73"/>
                </a:solidFill>
                <a:latin typeface="Source Sans 3 Semi-Bold"/>
                <a:ea typeface="Source Sans 3 Semi-Bold"/>
                <a:cs typeface="Source Sans 3 Semi-Bold"/>
                <a:sym typeface="Source Sans 3 Semi-Bold"/>
              </a:rPr>
              <a:t>Black-Box LLM Security</a:t>
            </a:r>
          </a:p>
        </p:txBody>
      </p:sp>
      <p:sp>
        <p:nvSpPr>
          <p:cNvPr id="12" name="TextBox 12"/>
          <p:cNvSpPr txBox="1"/>
          <p:nvPr/>
        </p:nvSpPr>
        <p:spPr>
          <a:xfrm>
            <a:off x="1181100" y="2684519"/>
            <a:ext cx="7962900" cy="2626519"/>
          </a:xfrm>
          <a:prstGeom prst="rect">
            <a:avLst/>
          </a:prstGeom>
        </p:spPr>
        <p:txBody>
          <a:bodyPr lIns="0" tIns="0" rIns="0" bIns="0" rtlCol="0" anchor="t">
            <a:spAutoFit/>
          </a:bodyPr>
          <a:lstStyle/>
          <a:p>
            <a:pPr marL="0" lvl="0" indent="0" algn="l">
              <a:lnSpc>
                <a:spcPts val="10218"/>
              </a:lnSpc>
            </a:pPr>
            <a:r>
              <a:rPr lang="en-US" sz="9375" b="1">
                <a:solidFill>
                  <a:srgbClr val="1F2A44"/>
                </a:solidFill>
                <a:latin typeface="Libre Baskerville Bold"/>
                <a:ea typeface="Libre Baskerville Bold"/>
                <a:cs typeface="Libre Baskerville Bold"/>
                <a:sym typeface="Libre Baskerville Bold"/>
              </a:rPr>
              <a:t>Proposed Architecture</a:t>
            </a:r>
          </a:p>
        </p:txBody>
      </p:sp>
      <p:sp>
        <p:nvSpPr>
          <p:cNvPr id="13" name="TextBox 13"/>
          <p:cNvSpPr txBox="1"/>
          <p:nvPr/>
        </p:nvSpPr>
        <p:spPr>
          <a:xfrm>
            <a:off x="9404763" y="2541644"/>
            <a:ext cx="7854537" cy="2445941"/>
          </a:xfrm>
          <a:prstGeom prst="rect">
            <a:avLst/>
          </a:prstGeom>
        </p:spPr>
        <p:txBody>
          <a:bodyPr lIns="0" tIns="0" rIns="0" bIns="0" rtlCol="0" anchor="t">
            <a:spAutoFit/>
          </a:bodyPr>
          <a:lstStyle/>
          <a:p>
            <a:pPr marL="0" lvl="0" indent="0" algn="l">
              <a:lnSpc>
                <a:spcPts val="3259"/>
              </a:lnSpc>
              <a:spcBef>
                <a:spcPct val="0"/>
              </a:spcBef>
            </a:pPr>
            <a:r>
              <a:rPr lang="en-US" sz="2328" b="1" spc="-46">
                <a:solidFill>
                  <a:srgbClr val="4A5D73"/>
                </a:solidFill>
                <a:latin typeface="Source Sans 3 Semi-Bold"/>
                <a:ea typeface="Source Sans 3 Semi-Bold"/>
                <a:cs typeface="Source Sans 3 Semi-Bold"/>
                <a:sym typeface="Source Sans 3 Semi-Bold"/>
              </a:rPr>
              <a:t>The proposed architecture operates as a black-box wrapper around any LLM application. It intercepts user inputs and model outputs, applying a multi-stage pipeline of preprocessing, feature extraction, and classification to detect prompt injection and jailbreak attempts in real time without modifying the underlying model.</a:t>
            </a:r>
          </a:p>
        </p:txBody>
      </p:sp>
      <p:sp>
        <p:nvSpPr>
          <p:cNvPr id="14" name="TextBox 14"/>
          <p:cNvSpPr txBox="1"/>
          <p:nvPr/>
        </p:nvSpPr>
        <p:spPr>
          <a:xfrm>
            <a:off x="9749136" y="7495236"/>
            <a:ext cx="5303834" cy="1217216"/>
          </a:xfrm>
          <a:prstGeom prst="rect">
            <a:avLst/>
          </a:prstGeom>
        </p:spPr>
        <p:txBody>
          <a:bodyPr lIns="0" tIns="0" rIns="0" bIns="0" rtlCol="0" anchor="t">
            <a:spAutoFit/>
          </a:bodyPr>
          <a:lstStyle/>
          <a:p>
            <a:pPr marL="0" lvl="0" indent="0" algn="l">
              <a:lnSpc>
                <a:spcPts val="3259"/>
              </a:lnSpc>
            </a:pPr>
            <a:r>
              <a:rPr lang="en-US" sz="2328" b="1" spc="-46">
                <a:solidFill>
                  <a:srgbClr val="4A5D73"/>
                </a:solidFill>
                <a:latin typeface="Source Sans 3 Semi-Bold"/>
                <a:ea typeface="Source Sans 3 Semi-Bold"/>
                <a:cs typeface="Source Sans 3 Semi-Bold"/>
                <a:sym typeface="Source Sans 3 Semi-Bold"/>
              </a:rPr>
              <a:t>Input processing &amp; normalization layer</a:t>
            </a:r>
          </a:p>
          <a:p>
            <a:pPr marL="0" lvl="0" indent="0" algn="l">
              <a:lnSpc>
                <a:spcPts val="3259"/>
              </a:lnSpc>
            </a:pPr>
            <a:r>
              <a:rPr lang="en-US" sz="2328" b="1" spc="-46">
                <a:solidFill>
                  <a:srgbClr val="4A5D73"/>
                </a:solidFill>
                <a:latin typeface="Source Sans 3 Semi-Bold"/>
                <a:ea typeface="Source Sans 3 Semi-Bold"/>
                <a:cs typeface="Source Sans 3 Semi-Bold"/>
                <a:sym typeface="Source Sans 3 Semi-Bold"/>
              </a:rPr>
              <a:t>Feature extraction &amp; embedding module</a:t>
            </a:r>
          </a:p>
          <a:p>
            <a:pPr marL="0" lvl="0" indent="0" algn="l">
              <a:lnSpc>
                <a:spcPts val="3259"/>
              </a:lnSpc>
            </a:pPr>
            <a:r>
              <a:rPr lang="en-US" sz="2328" b="1" spc="-46">
                <a:solidFill>
                  <a:srgbClr val="4A5D73"/>
                </a:solidFill>
                <a:latin typeface="Source Sans 3 Semi-Bold"/>
                <a:ea typeface="Source Sans 3 Semi-Bold"/>
                <a:cs typeface="Source Sans 3 Semi-Bold"/>
                <a:sym typeface="Source Sans 3 Semi-Bold"/>
              </a:rPr>
              <a:t>Classification &amp; threat scoring engine</a:t>
            </a:r>
          </a:p>
        </p:txBody>
      </p:sp>
      <p:sp>
        <p:nvSpPr>
          <p:cNvPr id="15" name="TextBox 15"/>
          <p:cNvSpPr txBox="1"/>
          <p:nvPr/>
        </p:nvSpPr>
        <p:spPr>
          <a:xfrm>
            <a:off x="9404763" y="6399142"/>
            <a:ext cx="2937760" cy="422320"/>
          </a:xfrm>
          <a:prstGeom prst="rect">
            <a:avLst/>
          </a:prstGeom>
        </p:spPr>
        <p:txBody>
          <a:bodyPr lIns="0" tIns="0" rIns="0" bIns="0" rtlCol="0" anchor="t">
            <a:spAutoFit/>
          </a:bodyPr>
          <a:lstStyle/>
          <a:p>
            <a:pPr marL="0" lvl="0" indent="0" algn="l">
              <a:lnSpc>
                <a:spcPts val="3497"/>
              </a:lnSpc>
              <a:spcBef>
                <a:spcPct val="0"/>
              </a:spcBef>
            </a:pPr>
            <a:r>
              <a:rPr lang="en-US" sz="2498" b="1" spc="-49">
                <a:solidFill>
                  <a:srgbClr val="4A5D73"/>
                </a:solidFill>
                <a:latin typeface="Source Sans 3 Bold"/>
                <a:ea typeface="Source Sans 3 Bold"/>
                <a:cs typeface="Source Sans 3 Bold"/>
                <a:sym typeface="Source Sans 3 Bold"/>
              </a:rPr>
              <a:t>Pipeline components: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181100" y="11811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AutoShape 5"/>
          <p:cNvSpPr/>
          <p:nvPr/>
        </p:nvSpPr>
        <p:spPr>
          <a:xfrm>
            <a:off x="9691437" y="4676901"/>
            <a:ext cx="5084107" cy="0"/>
          </a:xfrm>
          <a:prstGeom prst="line">
            <a:avLst/>
          </a:prstGeom>
          <a:ln w="38100" cap="flat">
            <a:solidFill>
              <a:srgbClr val="4A5D73"/>
            </a:solidFill>
            <a:prstDash val="solid"/>
            <a:headEnd type="none" w="sm" len="sm"/>
            <a:tailEnd type="none" w="sm" len="sm"/>
          </a:ln>
        </p:spPr>
      </p:sp>
      <p:sp>
        <p:nvSpPr>
          <p:cNvPr id="6" name="AutoShape 6"/>
          <p:cNvSpPr/>
          <p:nvPr/>
        </p:nvSpPr>
        <p:spPr>
          <a:xfrm>
            <a:off x="9621184" y="6285753"/>
            <a:ext cx="5084107" cy="0"/>
          </a:xfrm>
          <a:prstGeom prst="line">
            <a:avLst/>
          </a:prstGeom>
          <a:ln w="38100" cap="flat">
            <a:solidFill>
              <a:srgbClr val="4A5D73"/>
            </a:solidFill>
            <a:prstDash val="solid"/>
            <a:headEnd type="none" w="sm" len="sm"/>
            <a:tailEnd type="none" w="sm" len="sm"/>
          </a:ln>
        </p:spPr>
      </p:sp>
      <p:sp>
        <p:nvSpPr>
          <p:cNvPr id="7" name="AutoShape 7"/>
          <p:cNvSpPr/>
          <p:nvPr/>
        </p:nvSpPr>
        <p:spPr>
          <a:xfrm>
            <a:off x="9621184" y="7543639"/>
            <a:ext cx="5084107" cy="0"/>
          </a:xfrm>
          <a:prstGeom prst="line">
            <a:avLst/>
          </a:prstGeom>
          <a:ln w="38100" cap="flat">
            <a:solidFill>
              <a:srgbClr val="4A5D73"/>
            </a:solidFill>
            <a:prstDash val="solid"/>
            <a:headEnd type="none" w="sm" len="sm"/>
            <a:tailEnd type="none" w="sm" len="sm"/>
          </a:ln>
        </p:spPr>
      </p:sp>
      <p:grpSp>
        <p:nvGrpSpPr>
          <p:cNvPr id="8" name="Group 8"/>
          <p:cNvGrpSpPr/>
          <p:nvPr/>
        </p:nvGrpSpPr>
        <p:grpSpPr>
          <a:xfrm>
            <a:off x="1333500" y="4246529"/>
            <a:ext cx="6829680" cy="5011771"/>
            <a:chOff x="0" y="0"/>
            <a:chExt cx="1058096" cy="776454"/>
          </a:xfrm>
        </p:grpSpPr>
        <p:sp>
          <p:nvSpPr>
            <p:cNvPr id="9" name="Freeform 9"/>
            <p:cNvSpPr/>
            <p:nvPr/>
          </p:nvSpPr>
          <p:spPr>
            <a:xfrm>
              <a:off x="0" y="0"/>
              <a:ext cx="1058096" cy="776454"/>
            </a:xfrm>
            <a:custGeom>
              <a:avLst/>
              <a:gdLst/>
              <a:ahLst/>
              <a:cxnLst/>
              <a:rect l="l" t="t" r="r" b="b"/>
              <a:pathLst>
                <a:path w="1058096" h="776454">
                  <a:moveTo>
                    <a:pt x="56678" y="0"/>
                  </a:moveTo>
                  <a:lnTo>
                    <a:pt x="1001418" y="0"/>
                  </a:lnTo>
                  <a:cubicBezTo>
                    <a:pt x="1016450" y="0"/>
                    <a:pt x="1030866" y="5971"/>
                    <a:pt x="1041495" y="16601"/>
                  </a:cubicBezTo>
                  <a:cubicBezTo>
                    <a:pt x="1052125" y="27230"/>
                    <a:pt x="1058096" y="41646"/>
                    <a:pt x="1058096" y="56678"/>
                  </a:cubicBezTo>
                  <a:lnTo>
                    <a:pt x="1058096" y="719776"/>
                  </a:lnTo>
                  <a:cubicBezTo>
                    <a:pt x="1058096" y="734808"/>
                    <a:pt x="1052125" y="749224"/>
                    <a:pt x="1041495" y="759854"/>
                  </a:cubicBezTo>
                  <a:cubicBezTo>
                    <a:pt x="1030866" y="770483"/>
                    <a:pt x="1016450" y="776454"/>
                    <a:pt x="1001418" y="776454"/>
                  </a:cubicBezTo>
                  <a:lnTo>
                    <a:pt x="56678" y="776454"/>
                  </a:lnTo>
                  <a:cubicBezTo>
                    <a:pt x="25376" y="776454"/>
                    <a:pt x="0" y="751079"/>
                    <a:pt x="0" y="719776"/>
                  </a:cubicBezTo>
                  <a:lnTo>
                    <a:pt x="0" y="56678"/>
                  </a:lnTo>
                  <a:cubicBezTo>
                    <a:pt x="0" y="25376"/>
                    <a:pt x="25376" y="0"/>
                    <a:pt x="56678" y="0"/>
                  </a:cubicBezTo>
                  <a:close/>
                </a:path>
              </a:pathLst>
            </a:custGeom>
            <a:blipFill>
              <a:blip r:embed="rId2"/>
              <a:stretch>
                <a:fillRect l="-4" r="-4"/>
              </a:stretch>
            </a:blipFill>
          </p:spPr>
        </p:sp>
      </p:grpSp>
      <p:sp>
        <p:nvSpPr>
          <p:cNvPr id="10" name="TextBox 10"/>
          <p:cNvSpPr txBox="1"/>
          <p:nvPr/>
        </p:nvSpPr>
        <p:spPr>
          <a:xfrm>
            <a:off x="1507414" y="1334894"/>
            <a:ext cx="2823587" cy="198120"/>
          </a:xfrm>
          <a:prstGeom prst="rect">
            <a:avLst/>
          </a:prstGeom>
        </p:spPr>
        <p:txBody>
          <a:bodyPr lIns="0" tIns="0" rIns="0" bIns="0" rtlCol="0" anchor="t">
            <a:spAutoFit/>
          </a:bodyPr>
          <a:lstStyle/>
          <a:p>
            <a:pPr marL="0" lvl="0" indent="0" algn="l">
              <a:lnSpc>
                <a:spcPts val="1679"/>
              </a:lnSpc>
              <a:spcBef>
                <a:spcPct val="0"/>
              </a:spcBef>
            </a:pPr>
            <a:r>
              <a:rPr lang="en-US" sz="1200" b="1" spc="-24">
                <a:solidFill>
                  <a:srgbClr val="4A5D73"/>
                </a:solidFill>
                <a:latin typeface="Source Sans 3 Semi-Bold"/>
                <a:ea typeface="Source Sans 3 Semi-Bold"/>
                <a:cs typeface="Source Sans 3 Semi-Bold"/>
                <a:sym typeface="Source Sans 3 Semi-Bold"/>
              </a:rPr>
              <a:t>Black-Box LLM Security</a:t>
            </a:r>
          </a:p>
        </p:txBody>
      </p:sp>
      <p:sp>
        <p:nvSpPr>
          <p:cNvPr id="12" name="TextBox 12"/>
          <p:cNvSpPr txBox="1"/>
          <p:nvPr/>
        </p:nvSpPr>
        <p:spPr>
          <a:xfrm>
            <a:off x="13160689" y="1339835"/>
            <a:ext cx="3930366" cy="198120"/>
          </a:xfrm>
          <a:prstGeom prst="rect">
            <a:avLst/>
          </a:prstGeom>
        </p:spPr>
        <p:txBody>
          <a:bodyPr lIns="0" tIns="0" rIns="0" bIns="0" rtlCol="0" anchor="t">
            <a:spAutoFit/>
          </a:bodyPr>
          <a:lstStyle/>
          <a:p>
            <a:pPr marL="0" lvl="0" indent="0" algn="r">
              <a:lnSpc>
                <a:spcPts val="1679"/>
              </a:lnSpc>
              <a:spcBef>
                <a:spcPct val="0"/>
              </a:spcBef>
            </a:pPr>
            <a:r>
              <a:rPr lang="en-US" sz="1200" b="1" spc="-24">
                <a:solidFill>
                  <a:srgbClr val="4A5D73"/>
                </a:solidFill>
                <a:latin typeface="Source Sans 3 Semi-Bold"/>
                <a:ea typeface="Source Sans 3 Semi-Bold"/>
                <a:cs typeface="Source Sans 3 Semi-Bold"/>
                <a:sym typeface="Source Sans 3 Semi-Bold"/>
              </a:rPr>
              <a:t>Presented by Research Team</a:t>
            </a:r>
          </a:p>
        </p:txBody>
      </p:sp>
      <p:sp>
        <p:nvSpPr>
          <p:cNvPr id="13" name="TextBox 13"/>
          <p:cNvSpPr txBox="1"/>
          <p:nvPr/>
        </p:nvSpPr>
        <p:spPr>
          <a:xfrm>
            <a:off x="1333500" y="2593975"/>
            <a:ext cx="9527094" cy="1473234"/>
          </a:xfrm>
          <a:prstGeom prst="rect">
            <a:avLst/>
          </a:prstGeom>
        </p:spPr>
        <p:txBody>
          <a:bodyPr lIns="0" tIns="0" rIns="0" bIns="0" rtlCol="0" anchor="t">
            <a:spAutoFit/>
          </a:bodyPr>
          <a:lstStyle/>
          <a:p>
            <a:pPr marL="0" lvl="0" indent="0" algn="l">
              <a:lnSpc>
                <a:spcPts val="5700"/>
              </a:lnSpc>
            </a:pPr>
            <a:r>
              <a:rPr lang="en-US" sz="5229" b="1">
                <a:solidFill>
                  <a:srgbClr val="1F2A44"/>
                </a:solidFill>
                <a:latin typeface="Libre Baskerville Bold"/>
                <a:ea typeface="Libre Baskerville Bold"/>
                <a:cs typeface="Libre Baskerville Bold"/>
                <a:sym typeface="Libre Baskerville Bold"/>
              </a:rPr>
              <a:t>Proposed Detection Method</a:t>
            </a:r>
          </a:p>
        </p:txBody>
      </p:sp>
      <p:sp>
        <p:nvSpPr>
          <p:cNvPr id="14" name="TextBox 14"/>
          <p:cNvSpPr txBox="1"/>
          <p:nvPr/>
        </p:nvSpPr>
        <p:spPr>
          <a:xfrm>
            <a:off x="9799487" y="3944269"/>
            <a:ext cx="4175444" cy="575945"/>
          </a:xfrm>
          <a:prstGeom prst="rect">
            <a:avLst/>
          </a:prstGeom>
        </p:spPr>
        <p:txBody>
          <a:bodyPr lIns="0" tIns="0" rIns="0" bIns="0" rtlCol="0" anchor="t">
            <a:spAutoFit/>
          </a:bodyPr>
          <a:lstStyle/>
          <a:p>
            <a:pPr marL="0" lvl="0" indent="0" algn="l">
              <a:lnSpc>
                <a:spcPts val="2379"/>
              </a:lnSpc>
              <a:spcBef>
                <a:spcPct val="0"/>
              </a:spcBef>
            </a:pPr>
            <a:r>
              <a:rPr lang="en-US" sz="1699" b="1" spc="-33">
                <a:solidFill>
                  <a:srgbClr val="4A5D73"/>
                </a:solidFill>
                <a:latin typeface="Source Sans 3 Semi-Bold"/>
                <a:ea typeface="Source Sans 3 Semi-Bold"/>
                <a:cs typeface="Source Sans 3 Semi-Bold"/>
                <a:sym typeface="Source Sans 3 Semi-Bold"/>
              </a:rPr>
              <a:t>Behavioral Analysis: Monitor output deviations and response pattern shifts across queries</a:t>
            </a:r>
          </a:p>
        </p:txBody>
      </p:sp>
      <p:sp>
        <p:nvSpPr>
          <p:cNvPr id="15" name="TextBox 15"/>
          <p:cNvSpPr txBox="1"/>
          <p:nvPr/>
        </p:nvSpPr>
        <p:spPr>
          <a:xfrm>
            <a:off x="9799487" y="5156367"/>
            <a:ext cx="4391544" cy="871220"/>
          </a:xfrm>
          <a:prstGeom prst="rect">
            <a:avLst/>
          </a:prstGeom>
        </p:spPr>
        <p:txBody>
          <a:bodyPr lIns="0" tIns="0" rIns="0" bIns="0" rtlCol="0" anchor="t">
            <a:spAutoFit/>
          </a:bodyPr>
          <a:lstStyle/>
          <a:p>
            <a:pPr marL="0" lvl="0" indent="0" algn="l">
              <a:lnSpc>
                <a:spcPts val="2379"/>
              </a:lnSpc>
              <a:spcBef>
                <a:spcPct val="0"/>
              </a:spcBef>
            </a:pPr>
            <a:r>
              <a:rPr lang="en-US" sz="1699" b="1" spc="-33">
                <a:solidFill>
                  <a:srgbClr val="4A5D73"/>
                </a:solidFill>
                <a:latin typeface="Source Sans 3 Semi-Bold"/>
                <a:ea typeface="Source Sans 3 Semi-Bold"/>
                <a:cs typeface="Source Sans 3 Semi-Bold"/>
                <a:sym typeface="Source Sans 3 Semi-Bold"/>
              </a:rPr>
              <a:t>Pattern Recognition: Classify adversarial input signatures using n-gram and semantic embeddings</a:t>
            </a:r>
          </a:p>
        </p:txBody>
      </p:sp>
      <p:sp>
        <p:nvSpPr>
          <p:cNvPr id="16" name="TextBox 16"/>
          <p:cNvSpPr txBox="1"/>
          <p:nvPr/>
        </p:nvSpPr>
        <p:spPr>
          <a:xfrm>
            <a:off x="9799487" y="6674348"/>
            <a:ext cx="4391544" cy="575945"/>
          </a:xfrm>
          <a:prstGeom prst="rect">
            <a:avLst/>
          </a:prstGeom>
        </p:spPr>
        <p:txBody>
          <a:bodyPr lIns="0" tIns="0" rIns="0" bIns="0" rtlCol="0" anchor="t">
            <a:spAutoFit/>
          </a:bodyPr>
          <a:lstStyle/>
          <a:p>
            <a:pPr marL="0" lvl="0" indent="0" algn="l">
              <a:lnSpc>
                <a:spcPts val="2379"/>
              </a:lnSpc>
              <a:spcBef>
                <a:spcPct val="0"/>
              </a:spcBef>
            </a:pPr>
            <a:r>
              <a:rPr lang="en-US" sz="1699" b="1" spc="-33">
                <a:solidFill>
                  <a:srgbClr val="4A5D73"/>
                </a:solidFill>
                <a:latin typeface="Source Sans 3 Semi-Bold"/>
                <a:ea typeface="Source Sans 3 Semi-Bold"/>
                <a:cs typeface="Source Sans 3 Semi-Bold"/>
                <a:sym typeface="Source Sans 3 Semi-Bold"/>
              </a:rPr>
              <a:t>Anomaly Scoring: Assign risk scores via statistical divergence from benign baseline distributions</a:t>
            </a:r>
          </a:p>
        </p:txBody>
      </p:sp>
      <p:sp>
        <p:nvSpPr>
          <p:cNvPr id="17" name="TextBox 17"/>
          <p:cNvSpPr txBox="1"/>
          <p:nvPr/>
        </p:nvSpPr>
        <p:spPr>
          <a:xfrm>
            <a:off x="8597412" y="2498725"/>
            <a:ext cx="8100872" cy="824866"/>
          </a:xfrm>
          <a:prstGeom prst="rect">
            <a:avLst/>
          </a:prstGeom>
        </p:spPr>
        <p:txBody>
          <a:bodyPr lIns="0" tIns="0" rIns="0" bIns="0" rtlCol="0" anchor="t">
            <a:spAutoFit/>
          </a:bodyPr>
          <a:lstStyle/>
          <a:p>
            <a:pPr marL="0" lvl="0" indent="0" algn="l">
              <a:lnSpc>
                <a:spcPts val="3359"/>
              </a:lnSpc>
              <a:spcBef>
                <a:spcPct val="0"/>
              </a:spcBef>
            </a:pPr>
            <a:r>
              <a:rPr lang="en-US" sz="2399" b="1" spc="-47">
                <a:solidFill>
                  <a:srgbClr val="4A5D73"/>
                </a:solidFill>
                <a:latin typeface="Source Sans 3 Bold"/>
                <a:ea typeface="Source Sans 3 Bold"/>
                <a:cs typeface="Source Sans 3 Bold"/>
                <a:sym typeface="Source Sans 3 Bold"/>
              </a:rPr>
              <a:t>Our black-box detection pipeline employs three core techniques:</a:t>
            </a:r>
          </a:p>
        </p:txBody>
      </p:sp>
      <p:sp>
        <p:nvSpPr>
          <p:cNvPr id="18" name="TextBox 18"/>
          <p:cNvSpPr txBox="1"/>
          <p:nvPr/>
        </p:nvSpPr>
        <p:spPr>
          <a:xfrm>
            <a:off x="8597412" y="8181814"/>
            <a:ext cx="8493644" cy="575945"/>
          </a:xfrm>
          <a:prstGeom prst="rect">
            <a:avLst/>
          </a:prstGeom>
        </p:spPr>
        <p:txBody>
          <a:bodyPr lIns="0" tIns="0" rIns="0" bIns="0" rtlCol="0" anchor="t">
            <a:spAutoFit/>
          </a:bodyPr>
          <a:lstStyle/>
          <a:p>
            <a:pPr marL="0" lvl="0" indent="0" algn="l">
              <a:lnSpc>
                <a:spcPts val="2379"/>
              </a:lnSpc>
              <a:spcBef>
                <a:spcPct val="0"/>
              </a:spcBef>
            </a:pPr>
            <a:r>
              <a:rPr lang="en-US" sz="1699" b="1" spc="-33">
                <a:solidFill>
                  <a:srgbClr val="4A5D73"/>
                </a:solidFill>
                <a:latin typeface="Source Sans 3 Bold"/>
                <a:ea typeface="Source Sans 3 Bold"/>
                <a:cs typeface="Source Sans 3 Bold"/>
                <a:sym typeface="Source Sans 3 Bold"/>
              </a:rPr>
              <a:t>These techniques operate without internal model access, enabling scalable real-world deployment.</a:t>
            </a:r>
          </a:p>
        </p:txBody>
      </p:sp>
      <p:sp>
        <p:nvSpPr>
          <p:cNvPr id="19" name="TextBox 19"/>
          <p:cNvSpPr txBox="1"/>
          <p:nvPr/>
        </p:nvSpPr>
        <p:spPr>
          <a:xfrm>
            <a:off x="8597412" y="3923841"/>
            <a:ext cx="1023772" cy="772111"/>
          </a:xfrm>
          <a:prstGeom prst="rect">
            <a:avLst/>
          </a:prstGeom>
        </p:spPr>
        <p:txBody>
          <a:bodyPr lIns="0" tIns="0" rIns="0" bIns="0" rtlCol="0" anchor="t">
            <a:spAutoFit/>
          </a:bodyPr>
          <a:lstStyle/>
          <a:p>
            <a:pPr marL="0" lvl="0" indent="0" algn="ctr">
              <a:lnSpc>
                <a:spcPts val="5991"/>
              </a:lnSpc>
            </a:pPr>
            <a:r>
              <a:rPr lang="en-US" sz="5496" b="1">
                <a:solidFill>
                  <a:srgbClr val="1F2A44"/>
                </a:solidFill>
                <a:latin typeface="Libre Baskerville Bold"/>
                <a:ea typeface="Libre Baskerville Bold"/>
                <a:cs typeface="Libre Baskerville Bold"/>
                <a:sym typeface="Libre Baskerville Bold"/>
              </a:rPr>
              <a:t>01</a:t>
            </a:r>
          </a:p>
        </p:txBody>
      </p:sp>
      <p:sp>
        <p:nvSpPr>
          <p:cNvPr id="20" name="TextBox 20"/>
          <p:cNvSpPr txBox="1"/>
          <p:nvPr/>
        </p:nvSpPr>
        <p:spPr>
          <a:xfrm>
            <a:off x="8632114" y="5242092"/>
            <a:ext cx="1023772" cy="772111"/>
          </a:xfrm>
          <a:prstGeom prst="rect">
            <a:avLst/>
          </a:prstGeom>
        </p:spPr>
        <p:txBody>
          <a:bodyPr lIns="0" tIns="0" rIns="0" bIns="0" rtlCol="0" anchor="t">
            <a:spAutoFit/>
          </a:bodyPr>
          <a:lstStyle/>
          <a:p>
            <a:pPr marL="0" lvl="0" indent="0" algn="ctr">
              <a:lnSpc>
                <a:spcPts val="5991"/>
              </a:lnSpc>
            </a:pPr>
            <a:r>
              <a:rPr lang="en-US" sz="5496" b="1">
                <a:solidFill>
                  <a:srgbClr val="1F2A44"/>
                </a:solidFill>
                <a:latin typeface="Libre Baskerville Bold"/>
                <a:ea typeface="Libre Baskerville Bold"/>
                <a:cs typeface="Libre Baskerville Bold"/>
                <a:sym typeface="Libre Baskerville Bold"/>
              </a:rPr>
              <a:t>02</a:t>
            </a:r>
          </a:p>
        </p:txBody>
      </p:sp>
      <p:sp>
        <p:nvSpPr>
          <p:cNvPr id="21" name="TextBox 21"/>
          <p:cNvSpPr txBox="1"/>
          <p:nvPr/>
        </p:nvSpPr>
        <p:spPr>
          <a:xfrm>
            <a:off x="8667665" y="6619128"/>
            <a:ext cx="1023772" cy="772111"/>
          </a:xfrm>
          <a:prstGeom prst="rect">
            <a:avLst/>
          </a:prstGeom>
        </p:spPr>
        <p:txBody>
          <a:bodyPr lIns="0" tIns="0" rIns="0" bIns="0" rtlCol="0" anchor="t">
            <a:spAutoFit/>
          </a:bodyPr>
          <a:lstStyle/>
          <a:p>
            <a:pPr marL="0" lvl="0" indent="0" algn="ctr">
              <a:lnSpc>
                <a:spcPts val="5991"/>
              </a:lnSpc>
            </a:pPr>
            <a:r>
              <a:rPr lang="en-US" sz="5496" b="1">
                <a:solidFill>
                  <a:srgbClr val="1F2A44"/>
                </a:solidFill>
                <a:latin typeface="Libre Baskerville Bold"/>
                <a:ea typeface="Libre Baskerville Bold"/>
                <a:cs typeface="Libre Baskerville Bold"/>
                <a:sym typeface="Libre Baskerville Bold"/>
              </a:rPr>
              <a:t>03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355014" y="1153919"/>
            <a:ext cx="2823587" cy="389205"/>
          </a:xfrm>
          <a:prstGeom prst="rect">
            <a:avLst/>
          </a:prstGeom>
        </p:spPr>
        <p:txBody>
          <a:bodyPr lIns="0" tIns="0" rIns="0" bIns="0" rtlCol="0" anchor="t">
            <a:spAutoFit/>
          </a:bodyPr>
          <a:lstStyle/>
          <a:p>
            <a:pPr marL="0" lvl="0" indent="0" algn="l">
              <a:lnSpc>
                <a:spcPts val="3222"/>
              </a:lnSpc>
              <a:spcBef>
                <a:spcPct val="0"/>
              </a:spcBef>
            </a:pPr>
            <a:r>
              <a:rPr lang="en-US" sz="2301" b="1" spc="-46">
                <a:solidFill>
                  <a:srgbClr val="4A5D73"/>
                </a:solidFill>
                <a:latin typeface="Source Sans 3 Semi-Bold"/>
                <a:ea typeface="Source Sans 3 Semi-Bold"/>
                <a:cs typeface="Source Sans 3 Semi-Bold"/>
                <a:sym typeface="Source Sans 3 Semi-Bold"/>
              </a:rPr>
              <a:t>Black-Box Detection</a:t>
            </a:r>
          </a:p>
        </p:txBody>
      </p:sp>
      <p:sp>
        <p:nvSpPr>
          <p:cNvPr id="7" name="TextBox 7"/>
          <p:cNvSpPr txBox="1"/>
          <p:nvPr/>
        </p:nvSpPr>
        <p:spPr>
          <a:xfrm>
            <a:off x="12855889" y="1153919"/>
            <a:ext cx="3930366" cy="389205"/>
          </a:xfrm>
          <a:prstGeom prst="rect">
            <a:avLst/>
          </a:prstGeom>
        </p:spPr>
        <p:txBody>
          <a:bodyPr lIns="0" tIns="0" rIns="0" bIns="0" rtlCol="0" anchor="t">
            <a:spAutoFit/>
          </a:bodyPr>
          <a:lstStyle/>
          <a:p>
            <a:pPr marL="0" lvl="0" indent="0" algn="r">
              <a:lnSpc>
                <a:spcPts val="3222"/>
              </a:lnSpc>
              <a:spcBef>
                <a:spcPct val="0"/>
              </a:spcBef>
            </a:pPr>
            <a:r>
              <a:rPr lang="en-US" sz="2301" b="1" spc="-46">
                <a:solidFill>
                  <a:srgbClr val="4A5D73"/>
                </a:solidFill>
                <a:latin typeface="Source Sans 3 Semi-Bold"/>
                <a:ea typeface="Source Sans 3 Semi-Bold"/>
                <a:cs typeface="Source Sans 3 Semi-Bold"/>
                <a:sym typeface="Source Sans 3 Semi-Bold"/>
              </a:rPr>
              <a:t>Experimental Setup</a:t>
            </a:r>
          </a:p>
        </p:txBody>
      </p:sp>
      <p:sp>
        <p:nvSpPr>
          <p:cNvPr id="8" name="TextBox 8"/>
          <p:cNvSpPr txBox="1"/>
          <p:nvPr/>
        </p:nvSpPr>
        <p:spPr>
          <a:xfrm>
            <a:off x="1028700" y="2327275"/>
            <a:ext cx="7962900" cy="2395919"/>
          </a:xfrm>
          <a:prstGeom prst="rect">
            <a:avLst/>
          </a:prstGeom>
        </p:spPr>
        <p:txBody>
          <a:bodyPr lIns="0" tIns="0" rIns="0" bIns="0" rtlCol="0" anchor="t">
            <a:spAutoFit/>
          </a:bodyPr>
          <a:lstStyle/>
          <a:p>
            <a:pPr marL="0" lvl="0" indent="0" algn="l">
              <a:lnSpc>
                <a:spcPts val="9319"/>
              </a:lnSpc>
            </a:pPr>
            <a:r>
              <a:rPr lang="en-US" sz="8550" b="1">
                <a:solidFill>
                  <a:srgbClr val="1F2A44"/>
                </a:solidFill>
                <a:latin typeface="Libre Baskerville Bold"/>
                <a:ea typeface="Libre Baskerville Bold"/>
                <a:cs typeface="Libre Baskerville Bold"/>
                <a:sym typeface="Libre Baskerville Bold"/>
              </a:rPr>
              <a:t>Experimental</a:t>
            </a:r>
          </a:p>
          <a:p>
            <a:pPr marL="0" lvl="0" indent="0" algn="l">
              <a:lnSpc>
                <a:spcPts val="9319"/>
              </a:lnSpc>
            </a:pPr>
            <a:r>
              <a:rPr lang="en-US" sz="8550" b="1">
                <a:solidFill>
                  <a:srgbClr val="1F2A44"/>
                </a:solidFill>
                <a:latin typeface="Libre Baskerville Bold"/>
                <a:ea typeface="Libre Baskerville Bold"/>
                <a:cs typeface="Libre Baskerville Bold"/>
                <a:sym typeface="Libre Baskerville Bold"/>
              </a:rPr>
              <a:t>Setup</a:t>
            </a:r>
          </a:p>
        </p:txBody>
      </p:sp>
      <p:sp>
        <p:nvSpPr>
          <p:cNvPr id="9" name="TextBox 9"/>
          <p:cNvSpPr txBox="1"/>
          <p:nvPr/>
        </p:nvSpPr>
        <p:spPr>
          <a:xfrm>
            <a:off x="1028700" y="5672152"/>
            <a:ext cx="15990922" cy="1676998"/>
          </a:xfrm>
          <a:prstGeom prst="rect">
            <a:avLst/>
          </a:prstGeom>
        </p:spPr>
        <p:txBody>
          <a:bodyPr lIns="0" tIns="0" rIns="0" bIns="0" rtlCol="0" anchor="t">
            <a:spAutoFit/>
          </a:bodyPr>
          <a:lstStyle/>
          <a:p>
            <a:pPr marL="0" lvl="0" indent="0" algn="l">
              <a:lnSpc>
                <a:spcPts val="3276"/>
              </a:lnSpc>
              <a:spcBef>
                <a:spcPct val="0"/>
              </a:spcBef>
            </a:pPr>
            <a:r>
              <a:rPr lang="en-US" sz="2340" b="1" spc="-46" dirty="0">
                <a:solidFill>
                  <a:srgbClr val="4A5D73"/>
                </a:solidFill>
                <a:latin typeface="Source Sans 3 Semi-Bold"/>
                <a:ea typeface="Source Sans 3 Semi-Bold"/>
                <a:cs typeface="Source Sans 3 Semi-Bold"/>
                <a:sym typeface="Source Sans 3 Semi-Bold"/>
              </a:rPr>
              <a:t>Datasets: </a:t>
            </a:r>
            <a:r>
              <a:rPr lang="en-US" sz="2340" b="1" spc="-46" dirty="0" err="1">
                <a:solidFill>
                  <a:srgbClr val="4A5D73"/>
                </a:solidFill>
                <a:latin typeface="Source Sans 3 Semi-Bold"/>
                <a:ea typeface="Source Sans 3 Semi-Bold"/>
                <a:cs typeface="Source Sans 3 Semi-Bold"/>
                <a:sym typeface="Source Sans 3 Semi-Bold"/>
              </a:rPr>
              <a:t>Ajentdojo,AdvBench</a:t>
            </a:r>
            <a:r>
              <a:rPr lang="en-US" sz="2340" b="1" spc="-46" dirty="0">
                <a:solidFill>
                  <a:srgbClr val="4A5D73"/>
                </a:solidFill>
                <a:latin typeface="Source Sans 3 Semi-Bold"/>
                <a:ea typeface="Source Sans 3 Semi-Bold"/>
                <a:cs typeface="Source Sans 3 Semi-Bold"/>
                <a:sym typeface="Source Sans 3 Semi-Bold"/>
              </a:rPr>
              <a:t>, </a:t>
            </a:r>
            <a:r>
              <a:rPr lang="en-US" sz="2340" b="1" spc="-46" dirty="0" err="1">
                <a:solidFill>
                  <a:srgbClr val="4A5D73"/>
                </a:solidFill>
                <a:latin typeface="Source Sans 3 Semi-Bold"/>
                <a:ea typeface="Source Sans 3 Semi-Bold"/>
                <a:cs typeface="Source Sans 3 Semi-Bold"/>
                <a:sym typeface="Source Sans 3 Semi-Bold"/>
              </a:rPr>
              <a:t>JailbreakBench</a:t>
            </a:r>
            <a:r>
              <a:rPr lang="en-US" sz="2340" b="1" spc="-46" dirty="0">
                <a:solidFill>
                  <a:srgbClr val="4A5D73"/>
                </a:solidFill>
                <a:latin typeface="Source Sans 3 Semi-Bold"/>
                <a:ea typeface="Source Sans 3 Semi-Bold"/>
                <a:cs typeface="Source Sans 3 Semi-Bold"/>
                <a:sym typeface="Source Sans 3 Semi-Bold"/>
              </a:rPr>
              <a:t>, and custom prompt injection corpora. Baseline models: GPT-3.5-Turbo, LLaMA-2, Mistral-7B. </a:t>
            </a:r>
          </a:p>
          <a:p>
            <a:pPr marL="0" lvl="0" indent="0" algn="l">
              <a:lnSpc>
                <a:spcPts val="3276"/>
              </a:lnSpc>
              <a:spcBef>
                <a:spcPct val="0"/>
              </a:spcBef>
            </a:pPr>
            <a:r>
              <a:rPr lang="en-US" sz="2340" b="1" spc="-46" dirty="0">
                <a:solidFill>
                  <a:srgbClr val="4A5D73"/>
                </a:solidFill>
                <a:latin typeface="Source Sans 3 Semi-Bold"/>
                <a:ea typeface="Source Sans 3 Semi-Bold"/>
                <a:cs typeface="Source Sans 3 Semi-Bold"/>
                <a:sym typeface="Source Sans 3 Semi-Bold"/>
              </a:rPr>
              <a:t>Evaluation metrics: Accuracy, F1-Score, False Positive Rate, and AUC-ROC. Testing configurations include zero-shot, few-shot, and adversarial transfer scenarios across multiple LLM APIs.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54065"/>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028700" y="2346325"/>
            <a:ext cx="7962900" cy="2797076"/>
          </a:xfrm>
          <a:prstGeom prst="rect">
            <a:avLst/>
          </a:prstGeom>
        </p:spPr>
        <p:txBody>
          <a:bodyPr lIns="0" tIns="0" rIns="0" bIns="0" rtlCol="0" anchor="t">
            <a:spAutoFit/>
          </a:bodyPr>
          <a:lstStyle/>
          <a:p>
            <a:pPr marL="0" lvl="0" indent="0" algn="l">
              <a:lnSpc>
                <a:spcPts val="10892"/>
              </a:lnSpc>
            </a:pPr>
            <a:r>
              <a:rPr lang="en-US" sz="9992" b="1">
                <a:solidFill>
                  <a:srgbClr val="1F2A44"/>
                </a:solidFill>
                <a:latin typeface="Libre Baskerville Bold"/>
                <a:ea typeface="Libre Baskerville Bold"/>
                <a:cs typeface="Libre Baskerville Bold"/>
                <a:sym typeface="Libre Baskerville Bold"/>
              </a:rPr>
              <a:t>Feasibility Analysis</a:t>
            </a:r>
          </a:p>
        </p:txBody>
      </p:sp>
      <p:sp>
        <p:nvSpPr>
          <p:cNvPr id="6" name="AutoShape 6"/>
          <p:cNvSpPr/>
          <p:nvPr/>
        </p:nvSpPr>
        <p:spPr>
          <a:xfrm>
            <a:off x="8616745" y="6755441"/>
            <a:ext cx="8482109" cy="0"/>
          </a:xfrm>
          <a:prstGeom prst="line">
            <a:avLst/>
          </a:prstGeom>
          <a:ln w="38100" cap="flat">
            <a:solidFill>
              <a:srgbClr val="4A5D73"/>
            </a:solidFill>
            <a:prstDash val="solid"/>
            <a:headEnd type="none" w="sm" len="sm"/>
            <a:tailEnd type="none" w="sm" len="sm"/>
          </a:ln>
        </p:spPr>
      </p:sp>
      <p:sp>
        <p:nvSpPr>
          <p:cNvPr id="7" name="AutoShape 7"/>
          <p:cNvSpPr/>
          <p:nvPr/>
        </p:nvSpPr>
        <p:spPr>
          <a:xfrm>
            <a:off x="8616745" y="7587258"/>
            <a:ext cx="8482109" cy="0"/>
          </a:xfrm>
          <a:prstGeom prst="line">
            <a:avLst/>
          </a:prstGeom>
          <a:ln w="38100" cap="flat">
            <a:solidFill>
              <a:srgbClr val="4A5D73"/>
            </a:solidFill>
            <a:prstDash val="solid"/>
            <a:headEnd type="none" w="sm" len="sm"/>
            <a:tailEnd type="none" w="sm" len="sm"/>
          </a:ln>
        </p:spPr>
      </p:sp>
      <p:sp>
        <p:nvSpPr>
          <p:cNvPr id="8" name="AutoShape 8"/>
          <p:cNvSpPr/>
          <p:nvPr/>
        </p:nvSpPr>
        <p:spPr>
          <a:xfrm flipV="1">
            <a:off x="8616745" y="8438125"/>
            <a:ext cx="8482109" cy="0"/>
          </a:xfrm>
          <a:prstGeom prst="line">
            <a:avLst/>
          </a:prstGeom>
          <a:ln w="38100" cap="flat">
            <a:solidFill>
              <a:srgbClr val="4A5D73"/>
            </a:solidFill>
            <a:prstDash val="solid"/>
            <a:headEnd type="none" w="sm" len="sm"/>
            <a:tailEnd type="none" w="sm" len="sm"/>
          </a:ln>
        </p:spPr>
      </p:sp>
      <p:grpSp>
        <p:nvGrpSpPr>
          <p:cNvPr id="9" name="Group 9"/>
          <p:cNvGrpSpPr/>
          <p:nvPr/>
        </p:nvGrpSpPr>
        <p:grpSpPr>
          <a:xfrm>
            <a:off x="1028700" y="5654361"/>
            <a:ext cx="5719012" cy="3256873"/>
            <a:chOff x="0" y="0"/>
            <a:chExt cx="886025" cy="504575"/>
          </a:xfrm>
        </p:grpSpPr>
        <p:sp>
          <p:nvSpPr>
            <p:cNvPr id="10" name="Freeform 10"/>
            <p:cNvSpPr/>
            <p:nvPr/>
          </p:nvSpPr>
          <p:spPr>
            <a:xfrm>
              <a:off x="0" y="0"/>
              <a:ext cx="886025" cy="504575"/>
            </a:xfrm>
            <a:custGeom>
              <a:avLst/>
              <a:gdLst/>
              <a:ahLst/>
              <a:cxnLst/>
              <a:rect l="l" t="t" r="r" b="b"/>
              <a:pathLst>
                <a:path w="886025" h="504575">
                  <a:moveTo>
                    <a:pt x="67686" y="0"/>
                  </a:moveTo>
                  <a:lnTo>
                    <a:pt x="818339" y="0"/>
                  </a:lnTo>
                  <a:cubicBezTo>
                    <a:pt x="836290" y="0"/>
                    <a:pt x="853506" y="7131"/>
                    <a:pt x="866200" y="19825"/>
                  </a:cubicBezTo>
                  <a:cubicBezTo>
                    <a:pt x="878893" y="32518"/>
                    <a:pt x="886025" y="49734"/>
                    <a:pt x="886025" y="67686"/>
                  </a:cubicBezTo>
                  <a:lnTo>
                    <a:pt x="886025" y="436889"/>
                  </a:lnTo>
                  <a:cubicBezTo>
                    <a:pt x="886025" y="454840"/>
                    <a:pt x="878893" y="472057"/>
                    <a:pt x="866200" y="484750"/>
                  </a:cubicBezTo>
                  <a:cubicBezTo>
                    <a:pt x="853506" y="497444"/>
                    <a:pt x="836290" y="504575"/>
                    <a:pt x="818339" y="504575"/>
                  </a:cubicBezTo>
                  <a:lnTo>
                    <a:pt x="67686" y="504575"/>
                  </a:lnTo>
                  <a:cubicBezTo>
                    <a:pt x="49734" y="504575"/>
                    <a:pt x="32518" y="497444"/>
                    <a:pt x="19825" y="484750"/>
                  </a:cubicBezTo>
                  <a:cubicBezTo>
                    <a:pt x="7131" y="472057"/>
                    <a:pt x="0" y="454840"/>
                    <a:pt x="0" y="436889"/>
                  </a:cubicBezTo>
                  <a:lnTo>
                    <a:pt x="0" y="67686"/>
                  </a:lnTo>
                  <a:cubicBezTo>
                    <a:pt x="0" y="49734"/>
                    <a:pt x="7131" y="32518"/>
                    <a:pt x="19825" y="19825"/>
                  </a:cubicBezTo>
                  <a:cubicBezTo>
                    <a:pt x="32518" y="7131"/>
                    <a:pt x="49734" y="0"/>
                    <a:pt x="67686" y="0"/>
                  </a:cubicBezTo>
                  <a:close/>
                </a:path>
              </a:pathLst>
            </a:custGeom>
            <a:blipFill>
              <a:blip r:embed="rId2"/>
              <a:stretch>
                <a:fillRect t="-37799" b="-37799"/>
              </a:stretch>
            </a:blipFill>
          </p:spPr>
        </p:sp>
      </p:grpSp>
      <p:grpSp>
        <p:nvGrpSpPr>
          <p:cNvPr id="11" name="Group 11"/>
          <p:cNvGrpSpPr/>
          <p:nvPr/>
        </p:nvGrpSpPr>
        <p:grpSpPr>
          <a:xfrm>
            <a:off x="8138404" y="2241550"/>
            <a:ext cx="9120896" cy="2707283"/>
            <a:chOff x="0" y="0"/>
            <a:chExt cx="1413066" cy="419429"/>
          </a:xfrm>
        </p:grpSpPr>
        <p:sp>
          <p:nvSpPr>
            <p:cNvPr id="12" name="Freeform 12"/>
            <p:cNvSpPr/>
            <p:nvPr/>
          </p:nvSpPr>
          <p:spPr>
            <a:xfrm>
              <a:off x="0" y="0"/>
              <a:ext cx="1413065" cy="419429"/>
            </a:xfrm>
            <a:custGeom>
              <a:avLst/>
              <a:gdLst/>
              <a:ahLst/>
              <a:cxnLst/>
              <a:rect l="l" t="t" r="r" b="b"/>
              <a:pathLst>
                <a:path w="1413065" h="419429">
                  <a:moveTo>
                    <a:pt x="42441" y="0"/>
                  </a:moveTo>
                  <a:lnTo>
                    <a:pt x="1370625" y="0"/>
                  </a:lnTo>
                  <a:cubicBezTo>
                    <a:pt x="1394064" y="0"/>
                    <a:pt x="1413065" y="19001"/>
                    <a:pt x="1413065" y="42441"/>
                  </a:cubicBezTo>
                  <a:lnTo>
                    <a:pt x="1413065" y="376988"/>
                  </a:lnTo>
                  <a:cubicBezTo>
                    <a:pt x="1413065" y="400428"/>
                    <a:pt x="1394064" y="419429"/>
                    <a:pt x="1370625" y="419429"/>
                  </a:cubicBezTo>
                  <a:lnTo>
                    <a:pt x="42441" y="419429"/>
                  </a:lnTo>
                  <a:cubicBezTo>
                    <a:pt x="19001" y="419429"/>
                    <a:pt x="0" y="400428"/>
                    <a:pt x="0" y="376988"/>
                  </a:cubicBezTo>
                  <a:lnTo>
                    <a:pt x="0" y="42441"/>
                  </a:lnTo>
                  <a:cubicBezTo>
                    <a:pt x="0" y="19001"/>
                    <a:pt x="19001" y="0"/>
                    <a:pt x="42441" y="0"/>
                  </a:cubicBezTo>
                  <a:close/>
                </a:path>
              </a:pathLst>
            </a:custGeom>
            <a:blipFill>
              <a:blip r:embed="rId3"/>
              <a:stretch>
                <a:fillRect l="-3241" r="-3241"/>
              </a:stretch>
            </a:blipFill>
          </p:spPr>
        </p:sp>
      </p:grpSp>
      <p:sp>
        <p:nvSpPr>
          <p:cNvPr id="13" name="TextBox 13"/>
          <p:cNvSpPr txBox="1"/>
          <p:nvPr/>
        </p:nvSpPr>
        <p:spPr>
          <a:xfrm>
            <a:off x="1355014" y="1188809"/>
            <a:ext cx="2823587"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Semi-Bold"/>
                <a:ea typeface="Source Sans 3 Semi-Bold"/>
                <a:cs typeface="Source Sans 3 Semi-Bold"/>
                <a:sym typeface="Source Sans 3 Semi-Bold"/>
              </a:rPr>
              <a:t>Black-Box LLM Security</a:t>
            </a:r>
          </a:p>
        </p:txBody>
      </p:sp>
      <p:sp>
        <p:nvSpPr>
          <p:cNvPr id="15" name="TextBox 15"/>
          <p:cNvSpPr txBox="1"/>
          <p:nvPr/>
        </p:nvSpPr>
        <p:spPr>
          <a:xfrm>
            <a:off x="12855889" y="1188809"/>
            <a:ext cx="3930366" cy="241687"/>
          </a:xfrm>
          <a:prstGeom prst="rect">
            <a:avLst/>
          </a:prstGeom>
        </p:spPr>
        <p:txBody>
          <a:bodyPr lIns="0" tIns="0" rIns="0" bIns="0" rtlCol="0" anchor="t">
            <a:spAutoFit/>
          </a:bodyPr>
          <a:lstStyle/>
          <a:p>
            <a:pPr marL="0" lvl="0" indent="0" algn="r">
              <a:lnSpc>
                <a:spcPts val="1903"/>
              </a:lnSpc>
              <a:spcBef>
                <a:spcPct val="0"/>
              </a:spcBef>
            </a:pPr>
            <a:r>
              <a:rPr lang="en-US" sz="1359" b="1" spc="-27">
                <a:solidFill>
                  <a:srgbClr val="4A5D73"/>
                </a:solidFill>
                <a:latin typeface="Source Sans 3 Semi-Bold"/>
                <a:ea typeface="Source Sans 3 Semi-Bold"/>
                <a:cs typeface="Source Sans 3 Semi-Bold"/>
                <a:sym typeface="Source Sans 3 Semi-Bold"/>
              </a:rPr>
              <a:t>Prompt Injection &amp; Jailbreak Detection</a:t>
            </a:r>
          </a:p>
        </p:txBody>
      </p:sp>
      <p:sp>
        <p:nvSpPr>
          <p:cNvPr id="16" name="TextBox 16"/>
          <p:cNvSpPr txBox="1"/>
          <p:nvPr/>
        </p:nvSpPr>
        <p:spPr>
          <a:xfrm>
            <a:off x="7333266" y="6056974"/>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01</a:t>
            </a:r>
          </a:p>
        </p:txBody>
      </p:sp>
      <p:sp>
        <p:nvSpPr>
          <p:cNvPr id="17" name="TextBox 17"/>
          <p:cNvSpPr txBox="1"/>
          <p:nvPr/>
        </p:nvSpPr>
        <p:spPr>
          <a:xfrm>
            <a:off x="7333266" y="6888791"/>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02</a:t>
            </a:r>
          </a:p>
        </p:txBody>
      </p:sp>
      <p:sp>
        <p:nvSpPr>
          <p:cNvPr id="18" name="TextBox 18"/>
          <p:cNvSpPr txBox="1"/>
          <p:nvPr/>
        </p:nvSpPr>
        <p:spPr>
          <a:xfrm>
            <a:off x="7333266" y="7739658"/>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03</a:t>
            </a:r>
          </a:p>
        </p:txBody>
      </p:sp>
      <p:sp>
        <p:nvSpPr>
          <p:cNvPr id="19" name="TextBox 19"/>
          <p:cNvSpPr txBox="1"/>
          <p:nvPr/>
        </p:nvSpPr>
        <p:spPr>
          <a:xfrm>
            <a:off x="8616745" y="6126728"/>
            <a:ext cx="7854537"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Semi-Bold"/>
                <a:ea typeface="Source Sans 3 Semi-Bold"/>
                <a:cs typeface="Source Sans 3 Semi-Bold"/>
                <a:sym typeface="Source Sans 3 Semi-Bold"/>
              </a:rPr>
              <a:t>Computational overhead is minimal — black-box probing requires only API-level queries with no model access</a:t>
            </a:r>
          </a:p>
        </p:txBody>
      </p:sp>
      <p:sp>
        <p:nvSpPr>
          <p:cNvPr id="20" name="TextBox 20"/>
          <p:cNvSpPr txBox="1"/>
          <p:nvPr/>
        </p:nvSpPr>
        <p:spPr>
          <a:xfrm>
            <a:off x="8616745" y="6958545"/>
            <a:ext cx="7854537"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Semi-Bold"/>
                <a:ea typeface="Source Sans 3 Semi-Bold"/>
                <a:cs typeface="Source Sans 3 Semi-Bold"/>
                <a:sym typeface="Source Sans 3 Semi-Bold"/>
              </a:rPr>
              <a:t>Scalable across diverse LLM deployments; detection logic is model-agnostic and infrastructure-independent</a:t>
            </a:r>
          </a:p>
        </p:txBody>
      </p:sp>
      <p:sp>
        <p:nvSpPr>
          <p:cNvPr id="21" name="TextBox 21"/>
          <p:cNvSpPr txBox="1"/>
          <p:nvPr/>
        </p:nvSpPr>
        <p:spPr>
          <a:xfrm>
            <a:off x="8616745" y="7809412"/>
            <a:ext cx="8482109"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Semi-Bold"/>
                <a:ea typeface="Source Sans 3 Semi-Bold"/>
                <a:cs typeface="Source Sans 3 Semi-Bold"/>
                <a:sym typeface="Source Sans 3 Semi-Bold"/>
              </a:rPr>
              <a:t>Key challenges include query rate limits, response latency, and adversarial evasion of detection probes</a:t>
            </a:r>
          </a:p>
        </p:txBody>
      </p:sp>
      <p:sp>
        <p:nvSpPr>
          <p:cNvPr id="22" name="TextBox 22"/>
          <p:cNvSpPr txBox="1"/>
          <p:nvPr/>
        </p:nvSpPr>
        <p:spPr>
          <a:xfrm>
            <a:off x="7522720" y="5367933"/>
            <a:ext cx="6311043"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Bold"/>
                <a:ea typeface="Source Sans 3 Bold"/>
                <a:cs typeface="Source Sans 3 Bold"/>
                <a:sym typeface="Source Sans 3 Bold"/>
              </a:rPr>
              <a:t>Key feasibility dimensions assessed:</a:t>
            </a:r>
          </a:p>
        </p:txBody>
      </p:sp>
      <p:sp>
        <p:nvSpPr>
          <p:cNvPr id="23" name="TextBox 23"/>
          <p:cNvSpPr txBox="1"/>
          <p:nvPr/>
        </p:nvSpPr>
        <p:spPr>
          <a:xfrm>
            <a:off x="7522720" y="8685775"/>
            <a:ext cx="9736580" cy="241687"/>
          </a:xfrm>
          <a:prstGeom prst="rect">
            <a:avLst/>
          </a:prstGeom>
        </p:spPr>
        <p:txBody>
          <a:bodyPr lIns="0" tIns="0" rIns="0" bIns="0" rtlCol="0" anchor="t">
            <a:spAutoFit/>
          </a:bodyPr>
          <a:lstStyle/>
          <a:p>
            <a:pPr marL="0" lvl="0" indent="0" algn="l">
              <a:lnSpc>
                <a:spcPts val="1903"/>
              </a:lnSpc>
              <a:spcBef>
                <a:spcPct val="0"/>
              </a:spcBef>
            </a:pPr>
            <a:r>
              <a:rPr lang="en-US" sz="1359" b="1" spc="-27">
                <a:solidFill>
                  <a:srgbClr val="4A5D73"/>
                </a:solidFill>
                <a:latin typeface="Source Sans 3 Bold"/>
                <a:ea typeface="Source Sans 3 Bold"/>
                <a:cs typeface="Source Sans 3 Bold"/>
                <a:sym typeface="Source Sans 3 Bold"/>
              </a:rPr>
              <a:t>Overall feasibility is high — the approach is lightweight, deployable, and adaptable to real-world LLM 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730286"/>
            <a:chOff x="0" y="0"/>
            <a:chExt cx="4274726" cy="192339"/>
          </a:xfrm>
        </p:grpSpPr>
        <p:sp>
          <p:nvSpPr>
            <p:cNvPr id="3" name="Freeform 3"/>
            <p:cNvSpPr/>
            <p:nvPr/>
          </p:nvSpPr>
          <p:spPr>
            <a:xfrm>
              <a:off x="0" y="0"/>
              <a:ext cx="4274726" cy="192339"/>
            </a:xfrm>
            <a:custGeom>
              <a:avLst/>
              <a:gdLst/>
              <a:ahLst/>
              <a:cxnLst/>
              <a:rect l="l" t="t" r="r" b="b"/>
              <a:pathLst>
                <a:path w="4274726" h="192339">
                  <a:moveTo>
                    <a:pt x="24327" y="0"/>
                  </a:moveTo>
                  <a:lnTo>
                    <a:pt x="4250399" y="0"/>
                  </a:lnTo>
                  <a:cubicBezTo>
                    <a:pt x="4263834" y="0"/>
                    <a:pt x="4274726" y="10891"/>
                    <a:pt x="4274726" y="24327"/>
                  </a:cubicBezTo>
                  <a:lnTo>
                    <a:pt x="4274726" y="168012"/>
                  </a:lnTo>
                  <a:cubicBezTo>
                    <a:pt x="4274726" y="181447"/>
                    <a:pt x="4263834" y="192339"/>
                    <a:pt x="4250399" y="192339"/>
                  </a:cubicBezTo>
                  <a:lnTo>
                    <a:pt x="24327" y="192339"/>
                  </a:lnTo>
                  <a:cubicBezTo>
                    <a:pt x="10891" y="192339"/>
                    <a:pt x="0" y="181447"/>
                    <a:pt x="0" y="168012"/>
                  </a:cubicBezTo>
                  <a:lnTo>
                    <a:pt x="0" y="24327"/>
                  </a:lnTo>
                  <a:cubicBezTo>
                    <a:pt x="0" y="10891"/>
                    <a:pt x="10891" y="0"/>
                    <a:pt x="24327" y="0"/>
                  </a:cubicBezTo>
                  <a:close/>
                </a:path>
              </a:pathLst>
            </a:custGeom>
            <a:ln w="38100" cap="rnd">
              <a:solidFill>
                <a:srgbClr val="E5E7EB"/>
              </a:solidFill>
              <a:prstDash val="solid"/>
              <a:round/>
            </a:ln>
          </p:spPr>
        </p:sp>
        <p:sp>
          <p:nvSpPr>
            <p:cNvPr id="4" name="TextBox 4"/>
            <p:cNvSpPr txBox="1"/>
            <p:nvPr/>
          </p:nvSpPr>
          <p:spPr>
            <a:xfrm>
              <a:off x="0" y="-38100"/>
              <a:ext cx="4274726" cy="2304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AutoShape 5"/>
          <p:cNvSpPr/>
          <p:nvPr/>
        </p:nvSpPr>
        <p:spPr>
          <a:xfrm>
            <a:off x="2464580" y="6915150"/>
            <a:ext cx="8482109" cy="0"/>
          </a:xfrm>
          <a:prstGeom prst="line">
            <a:avLst/>
          </a:prstGeom>
          <a:ln w="38100" cap="flat">
            <a:solidFill>
              <a:srgbClr val="4A5D73"/>
            </a:solidFill>
            <a:prstDash val="solid"/>
            <a:headEnd type="none" w="sm" len="sm"/>
            <a:tailEnd type="none" w="sm" len="sm"/>
          </a:ln>
        </p:spPr>
      </p:sp>
      <p:sp>
        <p:nvSpPr>
          <p:cNvPr id="6" name="AutoShape 6"/>
          <p:cNvSpPr/>
          <p:nvPr/>
        </p:nvSpPr>
        <p:spPr>
          <a:xfrm>
            <a:off x="2464580" y="7746967"/>
            <a:ext cx="8482109" cy="0"/>
          </a:xfrm>
          <a:prstGeom prst="line">
            <a:avLst/>
          </a:prstGeom>
          <a:ln w="38100" cap="flat">
            <a:solidFill>
              <a:srgbClr val="4A5D73"/>
            </a:solidFill>
            <a:prstDash val="solid"/>
            <a:headEnd type="none" w="sm" len="sm"/>
            <a:tailEnd type="none" w="sm" len="sm"/>
          </a:ln>
        </p:spPr>
      </p:sp>
      <p:sp>
        <p:nvSpPr>
          <p:cNvPr id="7" name="AutoShape 7"/>
          <p:cNvSpPr/>
          <p:nvPr/>
        </p:nvSpPr>
        <p:spPr>
          <a:xfrm flipV="1">
            <a:off x="2464580" y="8597834"/>
            <a:ext cx="8482109" cy="0"/>
          </a:xfrm>
          <a:prstGeom prst="line">
            <a:avLst/>
          </a:prstGeom>
          <a:ln w="38100" cap="flat">
            <a:solidFill>
              <a:srgbClr val="4A5D73"/>
            </a:solidFill>
            <a:prstDash val="solid"/>
            <a:headEnd type="none" w="sm" len="sm"/>
            <a:tailEnd type="none" w="sm" len="sm"/>
          </a:ln>
        </p:spPr>
      </p:sp>
      <p:grpSp>
        <p:nvGrpSpPr>
          <p:cNvPr id="8" name="Group 8"/>
          <p:cNvGrpSpPr/>
          <p:nvPr/>
        </p:nvGrpSpPr>
        <p:grpSpPr>
          <a:xfrm>
            <a:off x="12396900" y="4059171"/>
            <a:ext cx="4862400" cy="5199129"/>
            <a:chOff x="0" y="0"/>
            <a:chExt cx="753313" cy="805481"/>
          </a:xfrm>
        </p:grpSpPr>
        <p:sp>
          <p:nvSpPr>
            <p:cNvPr id="9" name="Freeform 9"/>
            <p:cNvSpPr/>
            <p:nvPr/>
          </p:nvSpPr>
          <p:spPr>
            <a:xfrm>
              <a:off x="0" y="0"/>
              <a:ext cx="753313" cy="805481"/>
            </a:xfrm>
            <a:custGeom>
              <a:avLst/>
              <a:gdLst/>
              <a:ahLst/>
              <a:cxnLst/>
              <a:rect l="l" t="t" r="r" b="b"/>
              <a:pathLst>
                <a:path w="753313" h="805481">
                  <a:moveTo>
                    <a:pt x="79610" y="0"/>
                  </a:moveTo>
                  <a:lnTo>
                    <a:pt x="673703" y="0"/>
                  </a:lnTo>
                  <a:cubicBezTo>
                    <a:pt x="717670" y="0"/>
                    <a:pt x="753313" y="35643"/>
                    <a:pt x="753313" y="79610"/>
                  </a:cubicBezTo>
                  <a:lnTo>
                    <a:pt x="753313" y="725871"/>
                  </a:lnTo>
                  <a:cubicBezTo>
                    <a:pt x="753313" y="769838"/>
                    <a:pt x="717670" y="805481"/>
                    <a:pt x="673703" y="805481"/>
                  </a:cubicBezTo>
                  <a:lnTo>
                    <a:pt x="79610" y="805481"/>
                  </a:lnTo>
                  <a:cubicBezTo>
                    <a:pt x="35643" y="805481"/>
                    <a:pt x="0" y="769838"/>
                    <a:pt x="0" y="725871"/>
                  </a:cubicBezTo>
                  <a:lnTo>
                    <a:pt x="0" y="79610"/>
                  </a:lnTo>
                  <a:cubicBezTo>
                    <a:pt x="0" y="35643"/>
                    <a:pt x="35643" y="0"/>
                    <a:pt x="79610" y="0"/>
                  </a:cubicBezTo>
                  <a:close/>
                </a:path>
              </a:pathLst>
            </a:custGeom>
            <a:blipFill>
              <a:blip r:embed="rId2"/>
              <a:stretch>
                <a:fillRect t="-12" b="-12"/>
              </a:stretch>
            </a:blipFill>
          </p:spPr>
        </p:sp>
      </p:grpSp>
      <p:sp>
        <p:nvSpPr>
          <p:cNvPr id="10" name="TextBox 10"/>
          <p:cNvSpPr txBox="1"/>
          <p:nvPr/>
        </p:nvSpPr>
        <p:spPr>
          <a:xfrm>
            <a:off x="1355014" y="1163444"/>
            <a:ext cx="2823587"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Semi-Bold"/>
                <a:ea typeface="Source Sans 3 Semi-Bold"/>
                <a:cs typeface="Source Sans 3 Semi-Bold"/>
                <a:sym typeface="Source Sans 3 Semi-Bold"/>
              </a:rPr>
              <a:t>Black-Box LLM Security</a:t>
            </a:r>
          </a:p>
        </p:txBody>
      </p:sp>
      <p:sp>
        <p:nvSpPr>
          <p:cNvPr id="12" name="TextBox 12"/>
          <p:cNvSpPr txBox="1"/>
          <p:nvPr/>
        </p:nvSpPr>
        <p:spPr>
          <a:xfrm>
            <a:off x="13008289" y="1168385"/>
            <a:ext cx="3930366" cy="348228"/>
          </a:xfrm>
          <a:prstGeom prst="rect">
            <a:avLst/>
          </a:prstGeom>
        </p:spPr>
        <p:txBody>
          <a:bodyPr lIns="0" tIns="0" rIns="0" bIns="0" rtlCol="0" anchor="t">
            <a:spAutoFit/>
          </a:bodyPr>
          <a:lstStyle/>
          <a:p>
            <a:pPr marL="0" lvl="0" indent="0" algn="r">
              <a:lnSpc>
                <a:spcPts val="2856"/>
              </a:lnSpc>
              <a:spcBef>
                <a:spcPct val="0"/>
              </a:spcBef>
            </a:pPr>
            <a:r>
              <a:rPr lang="en-US" sz="2040" b="1" spc="-40">
                <a:solidFill>
                  <a:srgbClr val="4A5D73"/>
                </a:solidFill>
                <a:latin typeface="Source Sans 3 Semi-Bold"/>
                <a:ea typeface="Source Sans 3 Semi-Bold"/>
                <a:cs typeface="Source Sans 3 Semi-Bold"/>
                <a:sym typeface="Source Sans 3 Semi-Bold"/>
              </a:rPr>
              <a:t>Presented by Helene Paquet</a:t>
            </a:r>
          </a:p>
        </p:txBody>
      </p:sp>
      <p:sp>
        <p:nvSpPr>
          <p:cNvPr id="13" name="TextBox 13"/>
          <p:cNvSpPr txBox="1"/>
          <p:nvPr/>
        </p:nvSpPr>
        <p:spPr>
          <a:xfrm>
            <a:off x="1181100" y="2498725"/>
            <a:ext cx="13074158" cy="1353683"/>
          </a:xfrm>
          <a:prstGeom prst="rect">
            <a:avLst/>
          </a:prstGeom>
        </p:spPr>
        <p:txBody>
          <a:bodyPr lIns="0" tIns="0" rIns="0" bIns="0" rtlCol="0" anchor="t">
            <a:spAutoFit/>
          </a:bodyPr>
          <a:lstStyle/>
          <a:p>
            <a:pPr marL="0" lvl="0" indent="0" algn="l">
              <a:lnSpc>
                <a:spcPts val="10492"/>
              </a:lnSpc>
            </a:pPr>
            <a:r>
              <a:rPr lang="en-US" sz="9626" b="1">
                <a:solidFill>
                  <a:srgbClr val="1F2A44"/>
                </a:solidFill>
                <a:latin typeface="Libre Baskerville Bold"/>
                <a:ea typeface="Libre Baskerville Bold"/>
                <a:cs typeface="Libre Baskerville Bold"/>
                <a:sym typeface="Libre Baskerville Bold"/>
              </a:rPr>
              <a:t>Expected Outcomes</a:t>
            </a:r>
          </a:p>
        </p:txBody>
      </p:sp>
      <p:sp>
        <p:nvSpPr>
          <p:cNvPr id="14" name="TextBox 14"/>
          <p:cNvSpPr txBox="1"/>
          <p:nvPr/>
        </p:nvSpPr>
        <p:spPr>
          <a:xfrm>
            <a:off x="1181100" y="6216683"/>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01</a:t>
            </a:r>
          </a:p>
        </p:txBody>
      </p:sp>
      <p:sp>
        <p:nvSpPr>
          <p:cNvPr id="15" name="TextBox 15"/>
          <p:cNvSpPr txBox="1"/>
          <p:nvPr/>
        </p:nvSpPr>
        <p:spPr>
          <a:xfrm>
            <a:off x="1181100" y="7048500"/>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02</a:t>
            </a:r>
          </a:p>
        </p:txBody>
      </p:sp>
      <p:sp>
        <p:nvSpPr>
          <p:cNvPr id="16" name="TextBox 16"/>
          <p:cNvSpPr txBox="1"/>
          <p:nvPr/>
        </p:nvSpPr>
        <p:spPr>
          <a:xfrm>
            <a:off x="1181100" y="7899367"/>
            <a:ext cx="1023772" cy="698451"/>
          </a:xfrm>
          <a:prstGeom prst="rect">
            <a:avLst/>
          </a:prstGeom>
        </p:spPr>
        <p:txBody>
          <a:bodyPr lIns="0" tIns="0" rIns="0" bIns="0" rtlCol="0" anchor="t">
            <a:spAutoFit/>
          </a:bodyPr>
          <a:lstStyle/>
          <a:p>
            <a:pPr marL="0" lvl="0" indent="0" algn="ctr">
              <a:lnSpc>
                <a:spcPts val="5446"/>
              </a:lnSpc>
            </a:pPr>
            <a:r>
              <a:rPr lang="en-US" sz="4996" b="1">
                <a:solidFill>
                  <a:srgbClr val="1F2A44"/>
                </a:solidFill>
                <a:latin typeface="Libre Baskerville Bold"/>
                <a:ea typeface="Libre Baskerville Bold"/>
                <a:cs typeface="Libre Baskerville Bold"/>
                <a:sym typeface="Libre Baskerville Bold"/>
              </a:rPr>
              <a:t>03</a:t>
            </a:r>
          </a:p>
        </p:txBody>
      </p:sp>
      <p:sp>
        <p:nvSpPr>
          <p:cNvPr id="17" name="TextBox 17"/>
          <p:cNvSpPr txBox="1"/>
          <p:nvPr/>
        </p:nvSpPr>
        <p:spPr>
          <a:xfrm>
            <a:off x="2464580" y="6286437"/>
            <a:ext cx="7854537"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Semi-Bold"/>
                <a:ea typeface="Source Sans 3 Semi-Bold"/>
                <a:cs typeface="Source Sans 3 Semi-Bold"/>
                <a:sym typeface="Source Sans 3 Semi-Bold"/>
              </a:rPr>
              <a:t>High detection accuracy (&gt;90%) for prompt injection and jailbreak attacks</a:t>
            </a:r>
          </a:p>
        </p:txBody>
      </p:sp>
      <p:sp>
        <p:nvSpPr>
          <p:cNvPr id="18" name="TextBox 18"/>
          <p:cNvSpPr txBox="1"/>
          <p:nvPr/>
        </p:nvSpPr>
        <p:spPr>
          <a:xfrm>
            <a:off x="2464580" y="7118254"/>
            <a:ext cx="7854537"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Semi-Bold"/>
                <a:ea typeface="Source Sans 3 Semi-Bold"/>
                <a:cs typeface="Source Sans 3 Semi-Bold"/>
                <a:sym typeface="Source Sans 3 Semi-Bold"/>
              </a:rPr>
              <a:t>Deployable black-box defense with minimal latency overhead in LLM APIs</a:t>
            </a:r>
          </a:p>
        </p:txBody>
      </p:sp>
      <p:sp>
        <p:nvSpPr>
          <p:cNvPr id="19" name="TextBox 19"/>
          <p:cNvSpPr txBox="1"/>
          <p:nvPr/>
        </p:nvSpPr>
        <p:spPr>
          <a:xfrm>
            <a:off x="2464580" y="7969121"/>
            <a:ext cx="8482109"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Semi-Bold"/>
                <a:ea typeface="Source Sans 3 Semi-Bold"/>
                <a:cs typeface="Source Sans 3 Semi-Bold"/>
                <a:sym typeface="Source Sans 3 Semi-Bold"/>
              </a:rPr>
              <a:t>Open benchmarks and future directions for adversarial robustness research</a:t>
            </a:r>
          </a:p>
        </p:txBody>
      </p:sp>
      <p:sp>
        <p:nvSpPr>
          <p:cNvPr id="20" name="TextBox 20"/>
          <p:cNvSpPr txBox="1"/>
          <p:nvPr/>
        </p:nvSpPr>
        <p:spPr>
          <a:xfrm>
            <a:off x="1370554" y="5527642"/>
            <a:ext cx="6311043"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Bold"/>
                <a:ea typeface="Source Sans 3 Bold"/>
                <a:cs typeface="Source Sans 3 Bold"/>
                <a:sym typeface="Source Sans 3 Bold"/>
              </a:rPr>
              <a:t>Anticipated results of this research:</a:t>
            </a:r>
          </a:p>
        </p:txBody>
      </p:sp>
      <p:sp>
        <p:nvSpPr>
          <p:cNvPr id="21" name="TextBox 21"/>
          <p:cNvSpPr txBox="1"/>
          <p:nvPr/>
        </p:nvSpPr>
        <p:spPr>
          <a:xfrm>
            <a:off x="1370554" y="8845484"/>
            <a:ext cx="10481762" cy="348228"/>
          </a:xfrm>
          <a:prstGeom prst="rect">
            <a:avLst/>
          </a:prstGeom>
        </p:spPr>
        <p:txBody>
          <a:bodyPr lIns="0" tIns="0" rIns="0" bIns="0" rtlCol="0" anchor="t">
            <a:spAutoFit/>
          </a:bodyPr>
          <a:lstStyle/>
          <a:p>
            <a:pPr marL="0" lvl="0" indent="0" algn="l">
              <a:lnSpc>
                <a:spcPts val="2856"/>
              </a:lnSpc>
              <a:spcBef>
                <a:spcPct val="0"/>
              </a:spcBef>
            </a:pPr>
            <a:r>
              <a:rPr lang="en-US" sz="2040" b="1" spc="-40">
                <a:solidFill>
                  <a:srgbClr val="4A5D73"/>
                </a:solidFill>
                <a:latin typeface="Source Sans 3 Bold"/>
                <a:ea typeface="Source Sans 3 Bold"/>
                <a:cs typeface="Source Sans 3 Bold"/>
                <a:sym typeface="Source Sans 3 Bold"/>
              </a:rPr>
              <a:t>These outcomes aim to advance secure, trustworthy deployment of LLM-based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804</Words>
  <Application>Microsoft Office PowerPoint</Application>
  <PresentationFormat>Custom</PresentationFormat>
  <Paragraphs>93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Source Sans 3 Semi-Bold</vt:lpstr>
      <vt:lpstr>Source Sans 3 Bold</vt:lpstr>
      <vt:lpstr>Calibri</vt:lpstr>
      <vt:lpstr>Arial</vt:lpstr>
      <vt:lpstr>Libre Baskerville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Black-Box Prompt Defense Overview</dc:title>
  <cp:lastModifiedBy>Ishani Anurag</cp:lastModifiedBy>
  <cp:revision>1</cp:revision>
  <dcterms:created xsi:type="dcterms:W3CDTF">2006-08-16T00:00:00Z</dcterms:created>
  <dcterms:modified xsi:type="dcterms:W3CDTF">2026-08-06T10:42:25Z</dcterms:modified>
  <dc:identifier>DAHRcROrtSI</dc:identifier>
</cp:coreProperties>
</file>